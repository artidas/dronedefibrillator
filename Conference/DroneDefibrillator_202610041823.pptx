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
  </p:notesMasterIdLst>
  <p:sldIdLst>
    <p:sldId id="256" r:id="rId3"/>
  </p:sldIdLst>
  <p:sldSz cx="25199975"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38" userDrawn="1">
          <p15:clr>
            <a:srgbClr val="A4A3A4"/>
          </p15:clr>
        </p15:guide>
        <p15:guide id="2" pos="79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7" autoAdjust="0"/>
    <p:restoredTop sz="95667" autoAdjust="0"/>
  </p:normalViewPr>
  <p:slideViewPr>
    <p:cSldViewPr snapToGrid="0">
      <p:cViewPr>
        <p:scale>
          <a:sx n="40" d="100"/>
          <a:sy n="40" d="100"/>
        </p:scale>
        <p:origin x="636" y="-3852"/>
      </p:cViewPr>
      <p:guideLst>
        <p:guide orient="horz" pos="11338"/>
        <p:guide pos="79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02963A-3055-4A9F-B884-0B5EE0ABA787}" type="datetimeFigureOut">
              <a:rPr lang="hu-HU" smtClean="0"/>
              <a:t>2026. 10. 03.</a:t>
            </a:fld>
            <a:endParaRPr lang="hu-HU"/>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3AE02F-513E-4198-8DCC-DC60AC072B7D}" type="slidenum">
              <a:rPr lang="hu-HU" smtClean="0"/>
              <a:t>‹#›</a:t>
            </a:fld>
            <a:endParaRPr lang="hu-HU"/>
          </a:p>
        </p:txBody>
      </p:sp>
    </p:spTree>
    <p:extLst>
      <p:ext uri="{BB962C8B-B14F-4D97-AF65-F5344CB8AC3E}">
        <p14:creationId xmlns:p14="http://schemas.microsoft.com/office/powerpoint/2010/main" val="3963420614"/>
      </p:ext>
    </p:extLst>
  </p:cSld>
  <p:clrMap bg1="lt1" tx1="dk1" bg2="lt2" tx2="dk2" accent1="accent1" accent2="accent2" accent3="accent3" accent4="accent4" accent5="accent5" accent6="accent6" hlink="hlink" folHlink="folHlink"/>
  <p:notesStyle>
    <a:lvl1pPr marL="0" algn="l" defTabSz="2937510" rtl="0" eaLnBrk="1" latinLnBrk="0" hangingPunct="1">
      <a:defRPr sz="3855" kern="1200">
        <a:solidFill>
          <a:schemeClr val="tx1"/>
        </a:solidFill>
        <a:latin typeface="+mn-lt"/>
        <a:ea typeface="+mn-ea"/>
        <a:cs typeface="+mn-cs"/>
      </a:defRPr>
    </a:lvl1pPr>
    <a:lvl2pPr marL="1468755" algn="l" defTabSz="2937510" rtl="0" eaLnBrk="1" latinLnBrk="0" hangingPunct="1">
      <a:defRPr sz="3855" kern="1200">
        <a:solidFill>
          <a:schemeClr val="tx1"/>
        </a:solidFill>
        <a:latin typeface="+mn-lt"/>
        <a:ea typeface="+mn-ea"/>
        <a:cs typeface="+mn-cs"/>
      </a:defRPr>
    </a:lvl2pPr>
    <a:lvl3pPr marL="2937510" algn="l" defTabSz="2937510" rtl="0" eaLnBrk="1" latinLnBrk="0" hangingPunct="1">
      <a:defRPr sz="3855" kern="1200">
        <a:solidFill>
          <a:schemeClr val="tx1"/>
        </a:solidFill>
        <a:latin typeface="+mn-lt"/>
        <a:ea typeface="+mn-ea"/>
        <a:cs typeface="+mn-cs"/>
      </a:defRPr>
    </a:lvl3pPr>
    <a:lvl4pPr marL="4406265" algn="l" defTabSz="2937510" rtl="0" eaLnBrk="1" latinLnBrk="0" hangingPunct="1">
      <a:defRPr sz="3855" kern="1200">
        <a:solidFill>
          <a:schemeClr val="tx1"/>
        </a:solidFill>
        <a:latin typeface="+mn-lt"/>
        <a:ea typeface="+mn-ea"/>
        <a:cs typeface="+mn-cs"/>
      </a:defRPr>
    </a:lvl4pPr>
    <a:lvl5pPr marL="5875020" algn="l" defTabSz="2937510" rtl="0" eaLnBrk="1" latinLnBrk="0" hangingPunct="1">
      <a:defRPr sz="3855" kern="1200">
        <a:solidFill>
          <a:schemeClr val="tx1"/>
        </a:solidFill>
        <a:latin typeface="+mn-lt"/>
        <a:ea typeface="+mn-ea"/>
        <a:cs typeface="+mn-cs"/>
      </a:defRPr>
    </a:lvl5pPr>
    <a:lvl6pPr marL="7343775" algn="l" defTabSz="2937510" rtl="0" eaLnBrk="1" latinLnBrk="0" hangingPunct="1">
      <a:defRPr sz="3855" kern="1200">
        <a:solidFill>
          <a:schemeClr val="tx1"/>
        </a:solidFill>
        <a:latin typeface="+mn-lt"/>
        <a:ea typeface="+mn-ea"/>
        <a:cs typeface="+mn-cs"/>
      </a:defRPr>
    </a:lvl6pPr>
    <a:lvl7pPr marL="8812530" algn="l" defTabSz="2937510" rtl="0" eaLnBrk="1" latinLnBrk="0" hangingPunct="1">
      <a:defRPr sz="3855" kern="1200">
        <a:solidFill>
          <a:schemeClr val="tx1"/>
        </a:solidFill>
        <a:latin typeface="+mn-lt"/>
        <a:ea typeface="+mn-ea"/>
        <a:cs typeface="+mn-cs"/>
      </a:defRPr>
    </a:lvl7pPr>
    <a:lvl8pPr marL="10281285" algn="l" defTabSz="2937510" rtl="0" eaLnBrk="1" latinLnBrk="0" hangingPunct="1">
      <a:defRPr sz="3855" kern="1200">
        <a:solidFill>
          <a:schemeClr val="tx1"/>
        </a:solidFill>
        <a:latin typeface="+mn-lt"/>
        <a:ea typeface="+mn-ea"/>
        <a:cs typeface="+mn-cs"/>
      </a:defRPr>
    </a:lvl8pPr>
    <a:lvl9pPr marL="11750040" algn="l" defTabSz="2937510" rtl="0" eaLnBrk="1" latinLnBrk="0" hangingPunct="1">
      <a:defRPr sz="385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9998" y="5891626"/>
            <a:ext cx="21419979" cy="12533242"/>
          </a:xfrm>
        </p:spPr>
        <p:txBody>
          <a:bodyPr anchor="b"/>
          <a:lstStyle>
            <a:lvl1pPr algn="ctr">
              <a:defRPr sz="16535"/>
            </a:lvl1pPr>
          </a:lstStyle>
          <a:p>
            <a:r>
              <a:rPr lang="en-US"/>
              <a:t>Click to edit Master title style</a:t>
            </a:r>
            <a:endParaRPr lang="en-US" dirty="0"/>
          </a:p>
        </p:txBody>
      </p:sp>
      <p:sp>
        <p:nvSpPr>
          <p:cNvPr id="3" name="Subtitle 2"/>
          <p:cNvSpPr>
            <a:spLocks noGrp="1"/>
          </p:cNvSpPr>
          <p:nvPr>
            <p:ph type="subTitle" idx="1"/>
          </p:nvPr>
        </p:nvSpPr>
        <p:spPr>
          <a:xfrm>
            <a:off x="3149997" y="18908198"/>
            <a:ext cx="18899981" cy="8691601"/>
          </a:xfrm>
        </p:spPr>
        <p:txBody>
          <a:bodyPr/>
          <a:lstStyle>
            <a:lvl1pPr marL="0" indent="0" algn="ctr">
              <a:buNone/>
              <a:defRPr sz="6614"/>
            </a:lvl1pPr>
            <a:lvl2pPr marL="1259997" indent="0" algn="ctr">
              <a:buNone/>
              <a:defRPr sz="5512"/>
            </a:lvl2pPr>
            <a:lvl3pPr marL="2519995" indent="0" algn="ctr">
              <a:buNone/>
              <a:defRPr sz="4961"/>
            </a:lvl3pPr>
            <a:lvl4pPr marL="3779992" indent="0" algn="ctr">
              <a:buNone/>
              <a:defRPr sz="4409"/>
            </a:lvl4pPr>
            <a:lvl5pPr marL="5039990" indent="0" algn="ctr">
              <a:buNone/>
              <a:defRPr sz="4409"/>
            </a:lvl5pPr>
            <a:lvl6pPr marL="6299987" indent="0" algn="ctr">
              <a:buNone/>
              <a:defRPr sz="4409"/>
            </a:lvl6pPr>
            <a:lvl7pPr marL="7559985" indent="0" algn="ctr">
              <a:buNone/>
              <a:defRPr sz="4409"/>
            </a:lvl7pPr>
            <a:lvl8pPr marL="8819982" indent="0" algn="ctr">
              <a:buNone/>
              <a:defRPr sz="4409"/>
            </a:lvl8pPr>
            <a:lvl9pPr marL="10079980" indent="0" algn="ctr">
              <a:buNone/>
              <a:defRPr sz="440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2BBB08-01D7-468F-B871-0D733E8D5D3A}" type="datetimeFigureOut">
              <a:rPr lang="hu-HU" smtClean="0"/>
              <a:t>2026. 10. 03.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2521763520"/>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BBB08-01D7-468F-B871-0D733E8D5D3A}" type="datetimeFigureOut">
              <a:rPr lang="hu-HU" smtClean="0"/>
              <a:t>2026. 10. 03.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3334002737"/>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19375" y="8974945"/>
            <a:ext cx="21734978" cy="14974888"/>
          </a:xfrm>
        </p:spPr>
        <p:txBody>
          <a:bodyPr anchor="b"/>
          <a:lstStyle>
            <a:lvl1pPr>
              <a:defRPr sz="16535"/>
            </a:lvl1pPr>
          </a:lstStyle>
          <a:p>
            <a:r>
              <a:rPr lang="en-US"/>
              <a:t>Click to edit Master title style</a:t>
            </a:r>
            <a:endParaRPr lang="en-US" dirty="0"/>
          </a:p>
        </p:txBody>
      </p:sp>
      <p:sp>
        <p:nvSpPr>
          <p:cNvPr id="3" name="Text Placeholder 2"/>
          <p:cNvSpPr>
            <a:spLocks noGrp="1"/>
          </p:cNvSpPr>
          <p:nvPr>
            <p:ph type="body" idx="1"/>
          </p:nvPr>
        </p:nvSpPr>
        <p:spPr>
          <a:xfrm>
            <a:off x="1719375" y="24091502"/>
            <a:ext cx="21734978" cy="7874940"/>
          </a:xfrm>
        </p:spPr>
        <p:txBody>
          <a:bodyPr/>
          <a:lstStyle>
            <a:lvl1pPr marL="0" indent="0">
              <a:buNone/>
              <a:defRPr sz="6614">
                <a:solidFill>
                  <a:schemeClr val="tx1">
                    <a:tint val="82000"/>
                  </a:schemeClr>
                </a:solidFill>
              </a:defRPr>
            </a:lvl1pPr>
            <a:lvl2pPr marL="1259997" indent="0">
              <a:buNone/>
              <a:defRPr sz="5512">
                <a:solidFill>
                  <a:schemeClr val="tx1">
                    <a:tint val="82000"/>
                  </a:schemeClr>
                </a:solidFill>
              </a:defRPr>
            </a:lvl2pPr>
            <a:lvl3pPr marL="2519995" indent="0">
              <a:buNone/>
              <a:defRPr sz="4961">
                <a:solidFill>
                  <a:schemeClr val="tx1">
                    <a:tint val="82000"/>
                  </a:schemeClr>
                </a:solidFill>
              </a:defRPr>
            </a:lvl3pPr>
            <a:lvl4pPr marL="3779992" indent="0">
              <a:buNone/>
              <a:defRPr sz="4409">
                <a:solidFill>
                  <a:schemeClr val="tx1">
                    <a:tint val="82000"/>
                  </a:schemeClr>
                </a:solidFill>
              </a:defRPr>
            </a:lvl4pPr>
            <a:lvl5pPr marL="5039990" indent="0">
              <a:buNone/>
              <a:defRPr sz="4409">
                <a:solidFill>
                  <a:schemeClr val="tx1">
                    <a:tint val="82000"/>
                  </a:schemeClr>
                </a:solidFill>
              </a:defRPr>
            </a:lvl5pPr>
            <a:lvl6pPr marL="6299987" indent="0">
              <a:buNone/>
              <a:defRPr sz="4409">
                <a:solidFill>
                  <a:schemeClr val="tx1">
                    <a:tint val="82000"/>
                  </a:schemeClr>
                </a:solidFill>
              </a:defRPr>
            </a:lvl6pPr>
            <a:lvl7pPr marL="7559985" indent="0">
              <a:buNone/>
              <a:defRPr sz="4409">
                <a:solidFill>
                  <a:schemeClr val="tx1">
                    <a:tint val="82000"/>
                  </a:schemeClr>
                </a:solidFill>
              </a:defRPr>
            </a:lvl7pPr>
            <a:lvl8pPr marL="8819982" indent="0">
              <a:buNone/>
              <a:defRPr sz="4409">
                <a:solidFill>
                  <a:schemeClr val="tx1">
                    <a:tint val="82000"/>
                  </a:schemeClr>
                </a:solidFill>
              </a:defRPr>
            </a:lvl8pPr>
            <a:lvl9pPr marL="10079980" indent="0">
              <a:buNone/>
              <a:defRPr sz="4409">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2BBB08-01D7-468F-B871-0D733E8D5D3A}" type="datetimeFigureOut">
              <a:rPr lang="hu-HU" smtClean="0"/>
              <a:t>2026. 10. 03.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2563598597"/>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32498" y="9583264"/>
            <a:ext cx="10709989"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757488" y="9583264"/>
            <a:ext cx="10709989"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2BBB08-01D7-468F-B871-0D733E8D5D3A}" type="datetimeFigureOut">
              <a:rPr lang="hu-HU" smtClean="0"/>
              <a:t>2026. 10. 03.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4183132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5781" y="1916661"/>
            <a:ext cx="21734978"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5783" y="8824938"/>
            <a:ext cx="10660769"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Click to edit Master text styles</a:t>
            </a:r>
          </a:p>
        </p:txBody>
      </p:sp>
      <p:sp>
        <p:nvSpPr>
          <p:cNvPr id="4" name="Content Placeholder 3"/>
          <p:cNvSpPr>
            <a:spLocks noGrp="1"/>
          </p:cNvSpPr>
          <p:nvPr>
            <p:ph sz="half" idx="2"/>
          </p:nvPr>
        </p:nvSpPr>
        <p:spPr>
          <a:xfrm>
            <a:off x="1735783" y="13149904"/>
            <a:ext cx="10660769"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757489" y="8824938"/>
            <a:ext cx="10713272" cy="4324966"/>
          </a:xfrm>
        </p:spPr>
        <p:txBody>
          <a:bodyPr anchor="b"/>
          <a:lstStyle>
            <a:lvl1pPr marL="0" indent="0">
              <a:buNone/>
              <a:defRPr sz="6614" b="1"/>
            </a:lvl1pPr>
            <a:lvl2pPr marL="1259997" indent="0">
              <a:buNone/>
              <a:defRPr sz="5512" b="1"/>
            </a:lvl2pPr>
            <a:lvl3pPr marL="2519995" indent="0">
              <a:buNone/>
              <a:defRPr sz="4961" b="1"/>
            </a:lvl3pPr>
            <a:lvl4pPr marL="3779992" indent="0">
              <a:buNone/>
              <a:defRPr sz="4409" b="1"/>
            </a:lvl4pPr>
            <a:lvl5pPr marL="5039990" indent="0">
              <a:buNone/>
              <a:defRPr sz="4409" b="1"/>
            </a:lvl5pPr>
            <a:lvl6pPr marL="6299987" indent="0">
              <a:buNone/>
              <a:defRPr sz="4409" b="1"/>
            </a:lvl6pPr>
            <a:lvl7pPr marL="7559985" indent="0">
              <a:buNone/>
              <a:defRPr sz="4409" b="1"/>
            </a:lvl7pPr>
            <a:lvl8pPr marL="8819982" indent="0">
              <a:buNone/>
              <a:defRPr sz="4409" b="1"/>
            </a:lvl8pPr>
            <a:lvl9pPr marL="10079980" indent="0">
              <a:buNone/>
              <a:defRPr sz="4409" b="1"/>
            </a:lvl9pPr>
          </a:lstStyle>
          <a:p>
            <a:pPr lvl="0"/>
            <a:r>
              <a:rPr lang="en-US"/>
              <a:t>Click to edit Master text styles</a:t>
            </a:r>
          </a:p>
        </p:txBody>
      </p:sp>
      <p:sp>
        <p:nvSpPr>
          <p:cNvPr id="6" name="Content Placeholder 5"/>
          <p:cNvSpPr>
            <a:spLocks noGrp="1"/>
          </p:cNvSpPr>
          <p:nvPr>
            <p:ph sz="quarter" idx="4"/>
          </p:nvPr>
        </p:nvSpPr>
        <p:spPr>
          <a:xfrm>
            <a:off x="12757489" y="13149904"/>
            <a:ext cx="10713272"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2BBB08-01D7-468F-B871-0D733E8D5D3A}" type="datetimeFigureOut">
              <a:rPr lang="hu-HU" smtClean="0"/>
              <a:t>2026. 10. 03.</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2334405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2BBB08-01D7-468F-B871-0D733E8D5D3A}" type="datetimeFigureOut">
              <a:rPr lang="hu-HU" smtClean="0"/>
              <a:t>2026. 10. 03.</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1024721790"/>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2BBB08-01D7-468F-B871-0D733E8D5D3A}" type="datetimeFigureOut">
              <a:rPr lang="hu-HU" smtClean="0"/>
              <a:t>2026. 10. 03.</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217927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n-US"/>
              <a:t>Click to edit Master title style</a:t>
            </a:r>
            <a:endParaRPr lang="en-US" dirty="0"/>
          </a:p>
        </p:txBody>
      </p:sp>
      <p:sp>
        <p:nvSpPr>
          <p:cNvPr id="3" name="Content Placeholder 2"/>
          <p:cNvSpPr>
            <a:spLocks noGrp="1"/>
          </p:cNvSpPr>
          <p:nvPr>
            <p:ph idx="1"/>
          </p:nvPr>
        </p:nvSpPr>
        <p:spPr>
          <a:xfrm>
            <a:off x="10713272" y="5183304"/>
            <a:ext cx="12757487" cy="25583147"/>
          </a:xfrm>
        </p:spPr>
        <p:txBody>
          <a:bodyPr/>
          <a:lstStyle>
            <a:lvl1pPr>
              <a:defRPr sz="8819"/>
            </a:lvl1pPr>
            <a:lvl2pPr>
              <a:defRPr sz="7717"/>
            </a:lvl2pPr>
            <a:lvl3pPr>
              <a:defRPr sz="6614"/>
            </a:lvl3pPr>
            <a:lvl4pPr>
              <a:defRPr sz="5512"/>
            </a:lvl4pPr>
            <a:lvl5pPr>
              <a:defRPr sz="5512"/>
            </a:lvl5pPr>
            <a:lvl6pPr>
              <a:defRPr sz="5512"/>
            </a:lvl6pPr>
            <a:lvl7pPr>
              <a:defRPr sz="5512"/>
            </a:lvl7pPr>
            <a:lvl8pPr>
              <a:defRPr sz="5512"/>
            </a:lvl8pPr>
            <a:lvl9pPr>
              <a:defRPr sz="551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Click to edit Master text styles</a:t>
            </a:r>
          </a:p>
        </p:txBody>
      </p:sp>
      <p:sp>
        <p:nvSpPr>
          <p:cNvPr id="5" name="Date Placeholder 4"/>
          <p:cNvSpPr>
            <a:spLocks noGrp="1"/>
          </p:cNvSpPr>
          <p:nvPr>
            <p:ph type="dt" sz="half" idx="10"/>
          </p:nvPr>
        </p:nvSpPr>
        <p:spPr/>
        <p:txBody>
          <a:bodyPr/>
          <a:lstStyle/>
          <a:p>
            <a:fld id="{7A2BBB08-01D7-468F-B871-0D733E8D5D3A}" type="datetimeFigureOut">
              <a:rPr lang="hu-HU" smtClean="0"/>
              <a:t>2026. 10. 03.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2367458911"/>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780" y="2399982"/>
            <a:ext cx="8127648" cy="8399939"/>
          </a:xfrm>
        </p:spPr>
        <p:txBody>
          <a:bodyPr anchor="b"/>
          <a:lstStyle>
            <a:lvl1pPr>
              <a:defRPr sz="8819"/>
            </a:lvl1pPr>
          </a:lstStyle>
          <a:p>
            <a:r>
              <a:rPr lang="en-US"/>
              <a:t>Click to edit Master title style</a:t>
            </a:r>
            <a:endParaRPr lang="en-US" dirty="0"/>
          </a:p>
        </p:txBody>
      </p:sp>
      <p:sp>
        <p:nvSpPr>
          <p:cNvPr id="3" name="Picture Placeholder 2"/>
          <p:cNvSpPr>
            <a:spLocks noGrp="1" noChangeAspect="1"/>
          </p:cNvSpPr>
          <p:nvPr>
            <p:ph type="pic" idx="1"/>
          </p:nvPr>
        </p:nvSpPr>
        <p:spPr>
          <a:xfrm>
            <a:off x="10713272" y="5183304"/>
            <a:ext cx="12757487" cy="25583147"/>
          </a:xfrm>
        </p:spPr>
        <p:txBody>
          <a:bodyPr anchor="t"/>
          <a:lstStyle>
            <a:lvl1pPr marL="0" indent="0">
              <a:buNone/>
              <a:defRPr sz="8819"/>
            </a:lvl1pPr>
            <a:lvl2pPr marL="1259997" indent="0">
              <a:buNone/>
              <a:defRPr sz="7717"/>
            </a:lvl2pPr>
            <a:lvl3pPr marL="2519995" indent="0">
              <a:buNone/>
              <a:defRPr sz="6614"/>
            </a:lvl3pPr>
            <a:lvl4pPr marL="3779992" indent="0">
              <a:buNone/>
              <a:defRPr sz="5512"/>
            </a:lvl4pPr>
            <a:lvl5pPr marL="5039990" indent="0">
              <a:buNone/>
              <a:defRPr sz="5512"/>
            </a:lvl5pPr>
            <a:lvl6pPr marL="6299987" indent="0">
              <a:buNone/>
              <a:defRPr sz="5512"/>
            </a:lvl6pPr>
            <a:lvl7pPr marL="7559985" indent="0">
              <a:buNone/>
              <a:defRPr sz="5512"/>
            </a:lvl7pPr>
            <a:lvl8pPr marL="8819982" indent="0">
              <a:buNone/>
              <a:defRPr sz="5512"/>
            </a:lvl8pPr>
            <a:lvl9pPr marL="10079980" indent="0">
              <a:buNone/>
              <a:defRPr sz="5512"/>
            </a:lvl9pPr>
          </a:lstStyle>
          <a:p>
            <a:endParaRPr lang="en-US" dirty="0"/>
          </a:p>
        </p:txBody>
      </p:sp>
      <p:sp>
        <p:nvSpPr>
          <p:cNvPr id="4" name="Text Placeholder 3"/>
          <p:cNvSpPr>
            <a:spLocks noGrp="1"/>
          </p:cNvSpPr>
          <p:nvPr>
            <p:ph type="body" sz="half" idx="2"/>
          </p:nvPr>
        </p:nvSpPr>
        <p:spPr>
          <a:xfrm>
            <a:off x="1735780" y="10799922"/>
            <a:ext cx="8127648" cy="20008190"/>
          </a:xfrm>
        </p:spPr>
        <p:txBody>
          <a:bodyPr/>
          <a:lstStyle>
            <a:lvl1pPr marL="0" indent="0">
              <a:buNone/>
              <a:defRPr sz="4409"/>
            </a:lvl1pPr>
            <a:lvl2pPr marL="1259997" indent="0">
              <a:buNone/>
              <a:defRPr sz="3858"/>
            </a:lvl2pPr>
            <a:lvl3pPr marL="2519995" indent="0">
              <a:buNone/>
              <a:defRPr sz="3307"/>
            </a:lvl3pPr>
            <a:lvl4pPr marL="3779992" indent="0">
              <a:buNone/>
              <a:defRPr sz="2756"/>
            </a:lvl4pPr>
            <a:lvl5pPr marL="5039990" indent="0">
              <a:buNone/>
              <a:defRPr sz="2756"/>
            </a:lvl5pPr>
            <a:lvl6pPr marL="6299987" indent="0">
              <a:buNone/>
              <a:defRPr sz="2756"/>
            </a:lvl6pPr>
            <a:lvl7pPr marL="7559985" indent="0">
              <a:buNone/>
              <a:defRPr sz="2756"/>
            </a:lvl7pPr>
            <a:lvl8pPr marL="8819982" indent="0">
              <a:buNone/>
              <a:defRPr sz="2756"/>
            </a:lvl8pPr>
            <a:lvl9pPr marL="10079980" indent="0">
              <a:buNone/>
              <a:defRPr sz="2756"/>
            </a:lvl9pPr>
          </a:lstStyle>
          <a:p>
            <a:pPr lvl="0"/>
            <a:r>
              <a:rPr lang="en-US"/>
              <a:t>Click to edit Master text styles</a:t>
            </a:r>
          </a:p>
        </p:txBody>
      </p:sp>
      <p:sp>
        <p:nvSpPr>
          <p:cNvPr id="5" name="Date Placeholder 4"/>
          <p:cNvSpPr>
            <a:spLocks noGrp="1"/>
          </p:cNvSpPr>
          <p:nvPr>
            <p:ph type="dt" sz="half" idx="10"/>
          </p:nvPr>
        </p:nvSpPr>
        <p:spPr/>
        <p:txBody>
          <a:bodyPr/>
          <a:lstStyle/>
          <a:p>
            <a:fld id="{7A2BBB08-01D7-468F-B871-0D733E8D5D3A}" type="datetimeFigureOut">
              <a:rPr lang="hu-HU" smtClean="0"/>
              <a:t>2026. 10. 03.</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3697750137"/>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BBB08-01D7-468F-B871-0D733E8D5D3A}" type="datetimeFigureOut">
              <a:rPr lang="hu-HU" smtClean="0"/>
              <a:t>2026. 10. 03.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3543461986"/>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033733" y="1916653"/>
            <a:ext cx="543374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32500" y="1916653"/>
            <a:ext cx="15986234"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BBB08-01D7-468F-B871-0D733E8D5D3A}" type="datetimeFigureOut">
              <a:rPr lang="hu-HU" smtClean="0"/>
              <a:t>2026. 10. 03.</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006009DC-32A3-4293-AFF4-FFC82B6EBBC4}" type="slidenum">
              <a:rPr lang="hu-HU" smtClean="0"/>
              <a:t>‹#›</a:t>
            </a:fld>
            <a:endParaRPr lang="hu-HU"/>
          </a:p>
        </p:txBody>
      </p:sp>
    </p:spTree>
    <p:extLst>
      <p:ext uri="{BB962C8B-B14F-4D97-AF65-F5344CB8AC3E}">
        <p14:creationId xmlns:p14="http://schemas.microsoft.com/office/powerpoint/2010/main" val="2932771764"/>
      </p:ext>
    </p:extLst>
  </p:cSld>
  <p:clrMapOvr>
    <a:masterClrMapping/>
  </p:clrMapOvr>
  <p:extLst>
    <p:ext uri="{DCECCB84-F9BA-43D5-87BE-67443E8EF086}">
      <p15:sldGuideLst xmlns:p15="http://schemas.microsoft.com/office/powerpoint/2012/main">
        <p15:guide id="1" orient="horz" pos="11338" userDrawn="1">
          <p15:clr>
            <a:srgbClr val="FBAE40"/>
          </p15:clr>
        </p15:guide>
        <p15:guide id="2" pos="793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7C1A9-BCF9-802F-86CC-76E2963F56DE}"/>
              </a:ext>
            </a:extLst>
          </p:cNvPr>
          <p:cNvSpPr>
            <a:spLocks noGrp="1"/>
          </p:cNvSpPr>
          <p:nvPr>
            <p:ph type="ctrTitle"/>
          </p:nvPr>
        </p:nvSpPr>
        <p:spPr>
          <a:xfrm>
            <a:off x="3149600" y="5891213"/>
            <a:ext cx="18900775" cy="12533312"/>
          </a:xfrm>
        </p:spPr>
        <p:txBody>
          <a:bodyPr anchor="b"/>
          <a:lstStyle>
            <a:lvl1pPr algn="ctr">
              <a:defRPr sz="6000"/>
            </a:lvl1pPr>
          </a:lstStyle>
          <a:p>
            <a:r>
              <a:rPr lang="en-US"/>
              <a:t>Click to edit Master title style</a:t>
            </a:r>
            <a:endParaRPr lang="hu-HU"/>
          </a:p>
        </p:txBody>
      </p:sp>
      <p:sp>
        <p:nvSpPr>
          <p:cNvPr id="3" name="Subtitle 2">
            <a:extLst>
              <a:ext uri="{FF2B5EF4-FFF2-40B4-BE49-F238E27FC236}">
                <a16:creationId xmlns:a16="http://schemas.microsoft.com/office/drawing/2014/main" id="{E134FD85-41A6-C152-4982-B61556F279C5}"/>
              </a:ext>
            </a:extLst>
          </p:cNvPr>
          <p:cNvSpPr>
            <a:spLocks noGrp="1"/>
          </p:cNvSpPr>
          <p:nvPr>
            <p:ph type="subTitle" idx="1"/>
          </p:nvPr>
        </p:nvSpPr>
        <p:spPr>
          <a:xfrm>
            <a:off x="3149600" y="18908713"/>
            <a:ext cx="18900775" cy="8691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u-HU"/>
          </a:p>
        </p:txBody>
      </p:sp>
      <p:sp>
        <p:nvSpPr>
          <p:cNvPr id="4" name="Date Placeholder 3">
            <a:extLst>
              <a:ext uri="{FF2B5EF4-FFF2-40B4-BE49-F238E27FC236}">
                <a16:creationId xmlns:a16="http://schemas.microsoft.com/office/drawing/2014/main" id="{92F7922E-859C-7E69-72D4-28FB46A028A5}"/>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5" name="Footer Placeholder 4">
            <a:extLst>
              <a:ext uri="{FF2B5EF4-FFF2-40B4-BE49-F238E27FC236}">
                <a16:creationId xmlns:a16="http://schemas.microsoft.com/office/drawing/2014/main" id="{82E29FE6-625A-D1C7-5648-E02868BD508F}"/>
              </a:ext>
            </a:extLst>
          </p:cNvPr>
          <p:cNvSpPr>
            <a:spLocks noGrp="1"/>
          </p:cNvSpPr>
          <p:nvPr>
            <p:ph type="ftr" sz="quarter" idx="11"/>
          </p:nvPr>
        </p:nvSpPr>
        <p:spPr/>
        <p:txBody>
          <a:bodyPr/>
          <a:lstStyle/>
          <a:p>
            <a:endParaRPr lang="hu-HU"/>
          </a:p>
        </p:txBody>
      </p:sp>
      <p:sp>
        <p:nvSpPr>
          <p:cNvPr id="6" name="Slide Number Placeholder 5">
            <a:extLst>
              <a:ext uri="{FF2B5EF4-FFF2-40B4-BE49-F238E27FC236}">
                <a16:creationId xmlns:a16="http://schemas.microsoft.com/office/drawing/2014/main" id="{C15B4218-FF0B-2961-9D60-53A854A857EB}"/>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4066893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DAC51-626C-8FB9-ADDD-19EA5659E871}"/>
              </a:ext>
            </a:extLst>
          </p:cNvPr>
          <p:cNvSpPr>
            <a:spLocks noGrp="1"/>
          </p:cNvSpPr>
          <p:nvPr>
            <p:ph type="title"/>
          </p:nvPr>
        </p:nvSpPr>
        <p:spPr/>
        <p:txBody>
          <a:bodyPr/>
          <a:lstStyle/>
          <a:p>
            <a:r>
              <a:rPr lang="en-US"/>
              <a:t>Click to edit Master title style</a:t>
            </a:r>
            <a:endParaRPr lang="hu-HU"/>
          </a:p>
        </p:txBody>
      </p:sp>
      <p:sp>
        <p:nvSpPr>
          <p:cNvPr id="3" name="Content Placeholder 2">
            <a:extLst>
              <a:ext uri="{FF2B5EF4-FFF2-40B4-BE49-F238E27FC236}">
                <a16:creationId xmlns:a16="http://schemas.microsoft.com/office/drawing/2014/main" id="{B54095E5-31A3-DD90-EA87-5C5F66A74D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Date Placeholder 3">
            <a:extLst>
              <a:ext uri="{FF2B5EF4-FFF2-40B4-BE49-F238E27FC236}">
                <a16:creationId xmlns:a16="http://schemas.microsoft.com/office/drawing/2014/main" id="{43BCE172-5324-DA66-C293-5AE6DC35BE90}"/>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5" name="Footer Placeholder 4">
            <a:extLst>
              <a:ext uri="{FF2B5EF4-FFF2-40B4-BE49-F238E27FC236}">
                <a16:creationId xmlns:a16="http://schemas.microsoft.com/office/drawing/2014/main" id="{5CABA146-AA8C-AE35-E1D6-2DA2EB0FC29C}"/>
              </a:ext>
            </a:extLst>
          </p:cNvPr>
          <p:cNvSpPr>
            <a:spLocks noGrp="1"/>
          </p:cNvSpPr>
          <p:nvPr>
            <p:ph type="ftr" sz="quarter" idx="11"/>
          </p:nvPr>
        </p:nvSpPr>
        <p:spPr/>
        <p:txBody>
          <a:bodyPr/>
          <a:lstStyle/>
          <a:p>
            <a:endParaRPr lang="hu-HU"/>
          </a:p>
        </p:txBody>
      </p:sp>
      <p:sp>
        <p:nvSpPr>
          <p:cNvPr id="6" name="Slide Number Placeholder 5">
            <a:extLst>
              <a:ext uri="{FF2B5EF4-FFF2-40B4-BE49-F238E27FC236}">
                <a16:creationId xmlns:a16="http://schemas.microsoft.com/office/drawing/2014/main" id="{AC71E04A-B0B8-C80D-3610-DB71F4D6B6D8}"/>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1757661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7B6F0-1F2B-5E50-FA11-0C37FABDB241}"/>
              </a:ext>
            </a:extLst>
          </p:cNvPr>
          <p:cNvSpPr>
            <a:spLocks noGrp="1"/>
          </p:cNvSpPr>
          <p:nvPr>
            <p:ph type="title"/>
          </p:nvPr>
        </p:nvSpPr>
        <p:spPr>
          <a:xfrm>
            <a:off x="1719263" y="8975725"/>
            <a:ext cx="21734462" cy="14974888"/>
          </a:xfrm>
        </p:spPr>
        <p:txBody>
          <a:bodyPr anchor="b"/>
          <a:lstStyle>
            <a:lvl1pPr>
              <a:defRPr sz="6000"/>
            </a:lvl1pPr>
          </a:lstStyle>
          <a:p>
            <a:r>
              <a:rPr lang="en-US"/>
              <a:t>Click to edit Master title style</a:t>
            </a:r>
            <a:endParaRPr lang="hu-HU"/>
          </a:p>
        </p:txBody>
      </p:sp>
      <p:sp>
        <p:nvSpPr>
          <p:cNvPr id="3" name="Text Placeholder 2">
            <a:extLst>
              <a:ext uri="{FF2B5EF4-FFF2-40B4-BE49-F238E27FC236}">
                <a16:creationId xmlns:a16="http://schemas.microsoft.com/office/drawing/2014/main" id="{C471A5B5-033C-B9F6-E89D-263D5576855E}"/>
              </a:ext>
            </a:extLst>
          </p:cNvPr>
          <p:cNvSpPr>
            <a:spLocks noGrp="1"/>
          </p:cNvSpPr>
          <p:nvPr>
            <p:ph type="body" idx="1"/>
          </p:nvPr>
        </p:nvSpPr>
        <p:spPr>
          <a:xfrm>
            <a:off x="1719263" y="24091900"/>
            <a:ext cx="21734462" cy="7874000"/>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C29B73-3CAD-870B-6634-217E3D3580A1}"/>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5" name="Footer Placeholder 4">
            <a:extLst>
              <a:ext uri="{FF2B5EF4-FFF2-40B4-BE49-F238E27FC236}">
                <a16:creationId xmlns:a16="http://schemas.microsoft.com/office/drawing/2014/main" id="{3A76D2A5-75C9-CBFD-3F5B-AF5ED05F7CA7}"/>
              </a:ext>
            </a:extLst>
          </p:cNvPr>
          <p:cNvSpPr>
            <a:spLocks noGrp="1"/>
          </p:cNvSpPr>
          <p:nvPr>
            <p:ph type="ftr" sz="quarter" idx="11"/>
          </p:nvPr>
        </p:nvSpPr>
        <p:spPr/>
        <p:txBody>
          <a:bodyPr/>
          <a:lstStyle/>
          <a:p>
            <a:endParaRPr lang="hu-HU"/>
          </a:p>
        </p:txBody>
      </p:sp>
      <p:sp>
        <p:nvSpPr>
          <p:cNvPr id="6" name="Slide Number Placeholder 5">
            <a:extLst>
              <a:ext uri="{FF2B5EF4-FFF2-40B4-BE49-F238E27FC236}">
                <a16:creationId xmlns:a16="http://schemas.microsoft.com/office/drawing/2014/main" id="{0C31E168-F217-27A0-00D0-8E2F75ED535E}"/>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136363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DDE3A-9DE4-418C-1AB1-E4C3E2259A3C}"/>
              </a:ext>
            </a:extLst>
          </p:cNvPr>
          <p:cNvSpPr>
            <a:spLocks noGrp="1"/>
          </p:cNvSpPr>
          <p:nvPr>
            <p:ph type="title"/>
          </p:nvPr>
        </p:nvSpPr>
        <p:spPr/>
        <p:txBody>
          <a:bodyPr/>
          <a:lstStyle/>
          <a:p>
            <a:r>
              <a:rPr lang="en-US"/>
              <a:t>Click to edit Master title style</a:t>
            </a:r>
            <a:endParaRPr lang="hu-HU"/>
          </a:p>
        </p:txBody>
      </p:sp>
      <p:sp>
        <p:nvSpPr>
          <p:cNvPr id="3" name="Content Placeholder 2">
            <a:extLst>
              <a:ext uri="{FF2B5EF4-FFF2-40B4-BE49-F238E27FC236}">
                <a16:creationId xmlns:a16="http://schemas.microsoft.com/office/drawing/2014/main" id="{A3C40E9E-73FC-F195-F584-C43785365C31}"/>
              </a:ext>
            </a:extLst>
          </p:cNvPr>
          <p:cNvSpPr>
            <a:spLocks noGrp="1"/>
          </p:cNvSpPr>
          <p:nvPr>
            <p:ph sz="half" idx="1"/>
          </p:nvPr>
        </p:nvSpPr>
        <p:spPr>
          <a:xfrm>
            <a:off x="1731963" y="9583738"/>
            <a:ext cx="10791825" cy="22840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Content Placeholder 3">
            <a:extLst>
              <a:ext uri="{FF2B5EF4-FFF2-40B4-BE49-F238E27FC236}">
                <a16:creationId xmlns:a16="http://schemas.microsoft.com/office/drawing/2014/main" id="{D7EA26FF-F535-11B1-B921-76F6613F6D18}"/>
              </a:ext>
            </a:extLst>
          </p:cNvPr>
          <p:cNvSpPr>
            <a:spLocks noGrp="1"/>
          </p:cNvSpPr>
          <p:nvPr>
            <p:ph sz="half" idx="2"/>
          </p:nvPr>
        </p:nvSpPr>
        <p:spPr>
          <a:xfrm>
            <a:off x="12676188" y="9583738"/>
            <a:ext cx="10791825" cy="22840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5" name="Date Placeholder 4">
            <a:extLst>
              <a:ext uri="{FF2B5EF4-FFF2-40B4-BE49-F238E27FC236}">
                <a16:creationId xmlns:a16="http://schemas.microsoft.com/office/drawing/2014/main" id="{ED424A1D-9577-ED84-9277-2060F05CE7FF}"/>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6" name="Footer Placeholder 5">
            <a:extLst>
              <a:ext uri="{FF2B5EF4-FFF2-40B4-BE49-F238E27FC236}">
                <a16:creationId xmlns:a16="http://schemas.microsoft.com/office/drawing/2014/main" id="{EDD640D9-ECA2-27C0-B753-5B6C65446262}"/>
              </a:ext>
            </a:extLst>
          </p:cNvPr>
          <p:cNvSpPr>
            <a:spLocks noGrp="1"/>
          </p:cNvSpPr>
          <p:nvPr>
            <p:ph type="ftr" sz="quarter" idx="11"/>
          </p:nvPr>
        </p:nvSpPr>
        <p:spPr/>
        <p:txBody>
          <a:bodyPr/>
          <a:lstStyle/>
          <a:p>
            <a:endParaRPr lang="hu-HU"/>
          </a:p>
        </p:txBody>
      </p:sp>
      <p:sp>
        <p:nvSpPr>
          <p:cNvPr id="7" name="Slide Number Placeholder 6">
            <a:extLst>
              <a:ext uri="{FF2B5EF4-FFF2-40B4-BE49-F238E27FC236}">
                <a16:creationId xmlns:a16="http://schemas.microsoft.com/office/drawing/2014/main" id="{8B6AA9E9-BCDA-5147-D75E-0CFBADA03DE2}"/>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1984402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E1336-95C2-3EBF-5C05-C4B4B11F6F2F}"/>
              </a:ext>
            </a:extLst>
          </p:cNvPr>
          <p:cNvSpPr>
            <a:spLocks noGrp="1"/>
          </p:cNvSpPr>
          <p:nvPr>
            <p:ph type="title"/>
          </p:nvPr>
        </p:nvSpPr>
        <p:spPr>
          <a:xfrm>
            <a:off x="1735138" y="1916113"/>
            <a:ext cx="21736050" cy="6959600"/>
          </a:xfrm>
        </p:spPr>
        <p:txBody>
          <a:bodyPr/>
          <a:lstStyle/>
          <a:p>
            <a:r>
              <a:rPr lang="en-US"/>
              <a:t>Click to edit Master title style</a:t>
            </a:r>
            <a:endParaRPr lang="hu-HU"/>
          </a:p>
        </p:txBody>
      </p:sp>
      <p:sp>
        <p:nvSpPr>
          <p:cNvPr id="3" name="Text Placeholder 2">
            <a:extLst>
              <a:ext uri="{FF2B5EF4-FFF2-40B4-BE49-F238E27FC236}">
                <a16:creationId xmlns:a16="http://schemas.microsoft.com/office/drawing/2014/main" id="{61ABBAD0-D098-7A18-97F4-57B458589A89}"/>
              </a:ext>
            </a:extLst>
          </p:cNvPr>
          <p:cNvSpPr>
            <a:spLocks noGrp="1"/>
          </p:cNvSpPr>
          <p:nvPr>
            <p:ph type="body" idx="1"/>
          </p:nvPr>
        </p:nvSpPr>
        <p:spPr>
          <a:xfrm>
            <a:off x="1735138" y="8824913"/>
            <a:ext cx="10661650" cy="4324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66962C-C63F-20F7-D134-8A4D36254918}"/>
              </a:ext>
            </a:extLst>
          </p:cNvPr>
          <p:cNvSpPr>
            <a:spLocks noGrp="1"/>
          </p:cNvSpPr>
          <p:nvPr>
            <p:ph sz="half" idx="2"/>
          </p:nvPr>
        </p:nvSpPr>
        <p:spPr>
          <a:xfrm>
            <a:off x="1735138" y="13149263"/>
            <a:ext cx="10661650" cy="19342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5" name="Text Placeholder 4">
            <a:extLst>
              <a:ext uri="{FF2B5EF4-FFF2-40B4-BE49-F238E27FC236}">
                <a16:creationId xmlns:a16="http://schemas.microsoft.com/office/drawing/2014/main" id="{201AF3DF-8233-0A03-33F3-474D97843AB3}"/>
              </a:ext>
            </a:extLst>
          </p:cNvPr>
          <p:cNvSpPr>
            <a:spLocks noGrp="1"/>
          </p:cNvSpPr>
          <p:nvPr>
            <p:ph type="body" sz="quarter" idx="3"/>
          </p:nvPr>
        </p:nvSpPr>
        <p:spPr>
          <a:xfrm>
            <a:off x="12757150" y="8824913"/>
            <a:ext cx="10714038" cy="4324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CB568C-BE70-5DB1-4684-1816C124D541}"/>
              </a:ext>
            </a:extLst>
          </p:cNvPr>
          <p:cNvSpPr>
            <a:spLocks noGrp="1"/>
          </p:cNvSpPr>
          <p:nvPr>
            <p:ph sz="quarter" idx="4"/>
          </p:nvPr>
        </p:nvSpPr>
        <p:spPr>
          <a:xfrm>
            <a:off x="12757150" y="13149263"/>
            <a:ext cx="10714038" cy="19342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7" name="Date Placeholder 6">
            <a:extLst>
              <a:ext uri="{FF2B5EF4-FFF2-40B4-BE49-F238E27FC236}">
                <a16:creationId xmlns:a16="http://schemas.microsoft.com/office/drawing/2014/main" id="{DBEB83F5-70AC-BBC7-D3DC-AEBFBBF358F7}"/>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8" name="Footer Placeholder 7">
            <a:extLst>
              <a:ext uri="{FF2B5EF4-FFF2-40B4-BE49-F238E27FC236}">
                <a16:creationId xmlns:a16="http://schemas.microsoft.com/office/drawing/2014/main" id="{FE39AF94-F12F-D38F-54C2-ED4C27706C6F}"/>
              </a:ext>
            </a:extLst>
          </p:cNvPr>
          <p:cNvSpPr>
            <a:spLocks noGrp="1"/>
          </p:cNvSpPr>
          <p:nvPr>
            <p:ph type="ftr" sz="quarter" idx="11"/>
          </p:nvPr>
        </p:nvSpPr>
        <p:spPr/>
        <p:txBody>
          <a:bodyPr/>
          <a:lstStyle/>
          <a:p>
            <a:endParaRPr lang="hu-HU"/>
          </a:p>
        </p:txBody>
      </p:sp>
      <p:sp>
        <p:nvSpPr>
          <p:cNvPr id="9" name="Slide Number Placeholder 8">
            <a:extLst>
              <a:ext uri="{FF2B5EF4-FFF2-40B4-BE49-F238E27FC236}">
                <a16:creationId xmlns:a16="http://schemas.microsoft.com/office/drawing/2014/main" id="{3E588C69-D9B3-0799-6325-BB6F477A440D}"/>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146529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32495-5B7C-9EC8-79C0-EC1E41031D9B}"/>
              </a:ext>
            </a:extLst>
          </p:cNvPr>
          <p:cNvSpPr>
            <a:spLocks noGrp="1"/>
          </p:cNvSpPr>
          <p:nvPr>
            <p:ph type="title"/>
          </p:nvPr>
        </p:nvSpPr>
        <p:spPr/>
        <p:txBody>
          <a:bodyPr/>
          <a:lstStyle/>
          <a:p>
            <a:r>
              <a:rPr lang="en-US"/>
              <a:t>Click to edit Master title style</a:t>
            </a:r>
            <a:endParaRPr lang="hu-HU"/>
          </a:p>
        </p:txBody>
      </p:sp>
      <p:sp>
        <p:nvSpPr>
          <p:cNvPr id="3" name="Date Placeholder 2">
            <a:extLst>
              <a:ext uri="{FF2B5EF4-FFF2-40B4-BE49-F238E27FC236}">
                <a16:creationId xmlns:a16="http://schemas.microsoft.com/office/drawing/2014/main" id="{9FC8D155-D4BE-9A80-DD33-5AE0B93E2BC5}"/>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4" name="Footer Placeholder 3">
            <a:extLst>
              <a:ext uri="{FF2B5EF4-FFF2-40B4-BE49-F238E27FC236}">
                <a16:creationId xmlns:a16="http://schemas.microsoft.com/office/drawing/2014/main" id="{7DDF3DA4-6B96-888E-21FB-0D468023FD0A}"/>
              </a:ext>
            </a:extLst>
          </p:cNvPr>
          <p:cNvSpPr>
            <a:spLocks noGrp="1"/>
          </p:cNvSpPr>
          <p:nvPr>
            <p:ph type="ftr" sz="quarter" idx="11"/>
          </p:nvPr>
        </p:nvSpPr>
        <p:spPr/>
        <p:txBody>
          <a:bodyPr/>
          <a:lstStyle/>
          <a:p>
            <a:endParaRPr lang="hu-HU"/>
          </a:p>
        </p:txBody>
      </p:sp>
      <p:sp>
        <p:nvSpPr>
          <p:cNvPr id="5" name="Slide Number Placeholder 4">
            <a:extLst>
              <a:ext uri="{FF2B5EF4-FFF2-40B4-BE49-F238E27FC236}">
                <a16:creationId xmlns:a16="http://schemas.microsoft.com/office/drawing/2014/main" id="{16FB9E21-726C-07BE-1073-E651D85E8FED}"/>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3516882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66B38C-EB94-6752-904F-BC72171AC5C4}"/>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3" name="Footer Placeholder 2">
            <a:extLst>
              <a:ext uri="{FF2B5EF4-FFF2-40B4-BE49-F238E27FC236}">
                <a16:creationId xmlns:a16="http://schemas.microsoft.com/office/drawing/2014/main" id="{E45B5FA5-4F7F-2472-0B04-2A9167E5DA96}"/>
              </a:ext>
            </a:extLst>
          </p:cNvPr>
          <p:cNvSpPr>
            <a:spLocks noGrp="1"/>
          </p:cNvSpPr>
          <p:nvPr>
            <p:ph type="ftr" sz="quarter" idx="11"/>
          </p:nvPr>
        </p:nvSpPr>
        <p:spPr/>
        <p:txBody>
          <a:bodyPr/>
          <a:lstStyle/>
          <a:p>
            <a:endParaRPr lang="hu-HU"/>
          </a:p>
        </p:txBody>
      </p:sp>
      <p:sp>
        <p:nvSpPr>
          <p:cNvPr id="4" name="Slide Number Placeholder 3">
            <a:extLst>
              <a:ext uri="{FF2B5EF4-FFF2-40B4-BE49-F238E27FC236}">
                <a16:creationId xmlns:a16="http://schemas.microsoft.com/office/drawing/2014/main" id="{7241DFD0-8787-5DD1-793D-5969244A089A}"/>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12143323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2C7C-9FFC-F8DD-9B15-B1B1A54ECCC7}"/>
              </a:ext>
            </a:extLst>
          </p:cNvPr>
          <p:cNvSpPr>
            <a:spLocks noGrp="1"/>
          </p:cNvSpPr>
          <p:nvPr>
            <p:ph type="title"/>
          </p:nvPr>
        </p:nvSpPr>
        <p:spPr>
          <a:xfrm>
            <a:off x="1735138" y="2400300"/>
            <a:ext cx="8128000" cy="8399463"/>
          </a:xfrm>
        </p:spPr>
        <p:txBody>
          <a:bodyPr anchor="b"/>
          <a:lstStyle>
            <a:lvl1pPr>
              <a:defRPr sz="3200"/>
            </a:lvl1pPr>
          </a:lstStyle>
          <a:p>
            <a:r>
              <a:rPr lang="en-US"/>
              <a:t>Click to edit Master title style</a:t>
            </a:r>
            <a:endParaRPr lang="hu-HU"/>
          </a:p>
        </p:txBody>
      </p:sp>
      <p:sp>
        <p:nvSpPr>
          <p:cNvPr id="3" name="Content Placeholder 2">
            <a:extLst>
              <a:ext uri="{FF2B5EF4-FFF2-40B4-BE49-F238E27FC236}">
                <a16:creationId xmlns:a16="http://schemas.microsoft.com/office/drawing/2014/main" id="{45D00EFC-4B2F-3FC8-FC65-E3AC72C97034}"/>
              </a:ext>
            </a:extLst>
          </p:cNvPr>
          <p:cNvSpPr>
            <a:spLocks noGrp="1"/>
          </p:cNvSpPr>
          <p:nvPr>
            <p:ph idx="1"/>
          </p:nvPr>
        </p:nvSpPr>
        <p:spPr>
          <a:xfrm>
            <a:off x="10714038" y="5183188"/>
            <a:ext cx="12757150" cy="255825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Text Placeholder 3">
            <a:extLst>
              <a:ext uri="{FF2B5EF4-FFF2-40B4-BE49-F238E27FC236}">
                <a16:creationId xmlns:a16="http://schemas.microsoft.com/office/drawing/2014/main" id="{DFA589C7-8807-2234-71C1-E2C0B5C3100A}"/>
              </a:ext>
            </a:extLst>
          </p:cNvPr>
          <p:cNvSpPr>
            <a:spLocks noGrp="1"/>
          </p:cNvSpPr>
          <p:nvPr>
            <p:ph type="body" sz="half" idx="2"/>
          </p:nvPr>
        </p:nvSpPr>
        <p:spPr>
          <a:xfrm>
            <a:off x="1735138" y="10799763"/>
            <a:ext cx="8128000" cy="200088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88A871-C01E-6FB4-C69E-BE3ED0E86BFD}"/>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6" name="Footer Placeholder 5">
            <a:extLst>
              <a:ext uri="{FF2B5EF4-FFF2-40B4-BE49-F238E27FC236}">
                <a16:creationId xmlns:a16="http://schemas.microsoft.com/office/drawing/2014/main" id="{ED5A33FB-3CDF-D8DC-CF61-695F7AF4018A}"/>
              </a:ext>
            </a:extLst>
          </p:cNvPr>
          <p:cNvSpPr>
            <a:spLocks noGrp="1"/>
          </p:cNvSpPr>
          <p:nvPr>
            <p:ph type="ftr" sz="quarter" idx="11"/>
          </p:nvPr>
        </p:nvSpPr>
        <p:spPr/>
        <p:txBody>
          <a:bodyPr/>
          <a:lstStyle/>
          <a:p>
            <a:endParaRPr lang="hu-HU"/>
          </a:p>
        </p:txBody>
      </p:sp>
      <p:sp>
        <p:nvSpPr>
          <p:cNvPr id="7" name="Slide Number Placeholder 6">
            <a:extLst>
              <a:ext uri="{FF2B5EF4-FFF2-40B4-BE49-F238E27FC236}">
                <a16:creationId xmlns:a16="http://schemas.microsoft.com/office/drawing/2014/main" id="{151D37F5-749C-9640-465F-5A63537750F3}"/>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24525698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6C69B-A3F1-036A-4601-7CC947A18EBC}"/>
              </a:ext>
            </a:extLst>
          </p:cNvPr>
          <p:cNvSpPr>
            <a:spLocks noGrp="1"/>
          </p:cNvSpPr>
          <p:nvPr>
            <p:ph type="title"/>
          </p:nvPr>
        </p:nvSpPr>
        <p:spPr>
          <a:xfrm>
            <a:off x="1735138" y="2400300"/>
            <a:ext cx="8128000" cy="8399463"/>
          </a:xfrm>
        </p:spPr>
        <p:txBody>
          <a:bodyPr anchor="b"/>
          <a:lstStyle>
            <a:lvl1pPr>
              <a:defRPr sz="3200"/>
            </a:lvl1pPr>
          </a:lstStyle>
          <a:p>
            <a:r>
              <a:rPr lang="en-US"/>
              <a:t>Click to edit Master title style</a:t>
            </a:r>
            <a:endParaRPr lang="hu-HU"/>
          </a:p>
        </p:txBody>
      </p:sp>
      <p:sp>
        <p:nvSpPr>
          <p:cNvPr id="3" name="Picture Placeholder 2">
            <a:extLst>
              <a:ext uri="{FF2B5EF4-FFF2-40B4-BE49-F238E27FC236}">
                <a16:creationId xmlns:a16="http://schemas.microsoft.com/office/drawing/2014/main" id="{9A3D70BF-EC25-03E6-DC9D-8654F84DBCC8}"/>
              </a:ext>
            </a:extLst>
          </p:cNvPr>
          <p:cNvSpPr>
            <a:spLocks noGrp="1" noChangeAspect="1"/>
          </p:cNvSpPr>
          <p:nvPr>
            <p:ph type="pic" idx="1"/>
          </p:nvPr>
        </p:nvSpPr>
        <p:spPr>
          <a:xfrm>
            <a:off x="10714038" y="5183188"/>
            <a:ext cx="12757150" cy="2558256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Text Placeholder 3">
            <a:extLst>
              <a:ext uri="{FF2B5EF4-FFF2-40B4-BE49-F238E27FC236}">
                <a16:creationId xmlns:a16="http://schemas.microsoft.com/office/drawing/2014/main" id="{7AED52AC-7710-F425-D8A4-A53A70F8B1D0}"/>
              </a:ext>
            </a:extLst>
          </p:cNvPr>
          <p:cNvSpPr>
            <a:spLocks noGrp="1"/>
          </p:cNvSpPr>
          <p:nvPr>
            <p:ph type="body" sz="half" idx="2"/>
          </p:nvPr>
        </p:nvSpPr>
        <p:spPr>
          <a:xfrm>
            <a:off x="1735138" y="10799763"/>
            <a:ext cx="8128000" cy="200088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DFE6BB-DD85-9306-D4E1-7FB6FEE79B86}"/>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6" name="Footer Placeholder 5">
            <a:extLst>
              <a:ext uri="{FF2B5EF4-FFF2-40B4-BE49-F238E27FC236}">
                <a16:creationId xmlns:a16="http://schemas.microsoft.com/office/drawing/2014/main" id="{4F96B97F-B07B-8EDA-4289-380EAC51694E}"/>
              </a:ext>
            </a:extLst>
          </p:cNvPr>
          <p:cNvSpPr>
            <a:spLocks noGrp="1"/>
          </p:cNvSpPr>
          <p:nvPr>
            <p:ph type="ftr" sz="quarter" idx="11"/>
          </p:nvPr>
        </p:nvSpPr>
        <p:spPr/>
        <p:txBody>
          <a:bodyPr/>
          <a:lstStyle/>
          <a:p>
            <a:endParaRPr lang="hu-HU"/>
          </a:p>
        </p:txBody>
      </p:sp>
      <p:sp>
        <p:nvSpPr>
          <p:cNvPr id="7" name="Slide Number Placeholder 6">
            <a:extLst>
              <a:ext uri="{FF2B5EF4-FFF2-40B4-BE49-F238E27FC236}">
                <a16:creationId xmlns:a16="http://schemas.microsoft.com/office/drawing/2014/main" id="{C98EFE75-5360-B610-1D1C-6FB2428ABD65}"/>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41476421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26E0-0E77-AE4F-9EA6-16317E2180C1}"/>
              </a:ext>
            </a:extLst>
          </p:cNvPr>
          <p:cNvSpPr>
            <a:spLocks noGrp="1"/>
          </p:cNvSpPr>
          <p:nvPr>
            <p:ph type="title"/>
          </p:nvPr>
        </p:nvSpPr>
        <p:spPr/>
        <p:txBody>
          <a:bodyPr/>
          <a:lstStyle/>
          <a:p>
            <a:r>
              <a:rPr lang="en-US"/>
              <a:t>Click to edit Master title style</a:t>
            </a:r>
            <a:endParaRPr lang="hu-HU"/>
          </a:p>
        </p:txBody>
      </p:sp>
      <p:sp>
        <p:nvSpPr>
          <p:cNvPr id="3" name="Vertical Text Placeholder 2">
            <a:extLst>
              <a:ext uri="{FF2B5EF4-FFF2-40B4-BE49-F238E27FC236}">
                <a16:creationId xmlns:a16="http://schemas.microsoft.com/office/drawing/2014/main" id="{B970A383-78EA-9546-4A2C-95ABFD7A70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Date Placeholder 3">
            <a:extLst>
              <a:ext uri="{FF2B5EF4-FFF2-40B4-BE49-F238E27FC236}">
                <a16:creationId xmlns:a16="http://schemas.microsoft.com/office/drawing/2014/main" id="{D8D584CF-431F-0DC5-92D7-A9D4752E5FBE}"/>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5" name="Footer Placeholder 4">
            <a:extLst>
              <a:ext uri="{FF2B5EF4-FFF2-40B4-BE49-F238E27FC236}">
                <a16:creationId xmlns:a16="http://schemas.microsoft.com/office/drawing/2014/main" id="{F5AB7072-4EF2-E475-DBE3-EE6E556D5827}"/>
              </a:ext>
            </a:extLst>
          </p:cNvPr>
          <p:cNvSpPr>
            <a:spLocks noGrp="1"/>
          </p:cNvSpPr>
          <p:nvPr>
            <p:ph type="ftr" sz="quarter" idx="11"/>
          </p:nvPr>
        </p:nvSpPr>
        <p:spPr/>
        <p:txBody>
          <a:bodyPr/>
          <a:lstStyle/>
          <a:p>
            <a:endParaRPr lang="hu-HU"/>
          </a:p>
        </p:txBody>
      </p:sp>
      <p:sp>
        <p:nvSpPr>
          <p:cNvPr id="6" name="Slide Number Placeholder 5">
            <a:extLst>
              <a:ext uri="{FF2B5EF4-FFF2-40B4-BE49-F238E27FC236}">
                <a16:creationId xmlns:a16="http://schemas.microsoft.com/office/drawing/2014/main" id="{814C3A9F-9C5B-96A9-4EAC-256D32FD497B}"/>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40557393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451BEA-DD5E-AAF0-963C-001B280BEBD9}"/>
              </a:ext>
            </a:extLst>
          </p:cNvPr>
          <p:cNvSpPr>
            <a:spLocks noGrp="1"/>
          </p:cNvSpPr>
          <p:nvPr>
            <p:ph type="title" orient="vert"/>
          </p:nvPr>
        </p:nvSpPr>
        <p:spPr>
          <a:xfrm>
            <a:off x="18034000" y="1916113"/>
            <a:ext cx="5434013" cy="30508575"/>
          </a:xfrm>
        </p:spPr>
        <p:txBody>
          <a:bodyPr vert="eaVert"/>
          <a:lstStyle/>
          <a:p>
            <a:r>
              <a:rPr lang="en-US"/>
              <a:t>Click to edit Master title style</a:t>
            </a:r>
            <a:endParaRPr lang="hu-HU"/>
          </a:p>
        </p:txBody>
      </p:sp>
      <p:sp>
        <p:nvSpPr>
          <p:cNvPr id="3" name="Vertical Text Placeholder 2">
            <a:extLst>
              <a:ext uri="{FF2B5EF4-FFF2-40B4-BE49-F238E27FC236}">
                <a16:creationId xmlns:a16="http://schemas.microsoft.com/office/drawing/2014/main" id="{6A929204-17C2-4F00-54E0-839B9B4DFB12}"/>
              </a:ext>
            </a:extLst>
          </p:cNvPr>
          <p:cNvSpPr>
            <a:spLocks noGrp="1"/>
          </p:cNvSpPr>
          <p:nvPr>
            <p:ph type="body" orient="vert" idx="1"/>
          </p:nvPr>
        </p:nvSpPr>
        <p:spPr>
          <a:xfrm>
            <a:off x="1731963" y="1916113"/>
            <a:ext cx="16149637" cy="305085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Date Placeholder 3">
            <a:extLst>
              <a:ext uri="{FF2B5EF4-FFF2-40B4-BE49-F238E27FC236}">
                <a16:creationId xmlns:a16="http://schemas.microsoft.com/office/drawing/2014/main" id="{7B62F95F-10D2-6EF9-3483-6976B63339A6}"/>
              </a:ext>
            </a:extLst>
          </p:cNvPr>
          <p:cNvSpPr>
            <a:spLocks noGrp="1"/>
          </p:cNvSpPr>
          <p:nvPr>
            <p:ph type="dt" sz="half" idx="10"/>
          </p:nvPr>
        </p:nvSpPr>
        <p:spPr/>
        <p:txBody>
          <a:bodyPr/>
          <a:lstStyle/>
          <a:p>
            <a:fld id="{82C62A71-71C0-4B1A-9F60-92DB1E390E66}" type="datetimeFigureOut">
              <a:rPr lang="hu-HU" smtClean="0"/>
              <a:t>2026. 10. 04.</a:t>
            </a:fld>
            <a:endParaRPr lang="hu-HU"/>
          </a:p>
        </p:txBody>
      </p:sp>
      <p:sp>
        <p:nvSpPr>
          <p:cNvPr id="5" name="Footer Placeholder 4">
            <a:extLst>
              <a:ext uri="{FF2B5EF4-FFF2-40B4-BE49-F238E27FC236}">
                <a16:creationId xmlns:a16="http://schemas.microsoft.com/office/drawing/2014/main" id="{B5DB97CE-C7BB-8A81-E904-33F7AFFAED24}"/>
              </a:ext>
            </a:extLst>
          </p:cNvPr>
          <p:cNvSpPr>
            <a:spLocks noGrp="1"/>
          </p:cNvSpPr>
          <p:nvPr>
            <p:ph type="ftr" sz="quarter" idx="11"/>
          </p:nvPr>
        </p:nvSpPr>
        <p:spPr/>
        <p:txBody>
          <a:bodyPr/>
          <a:lstStyle/>
          <a:p>
            <a:endParaRPr lang="hu-HU"/>
          </a:p>
        </p:txBody>
      </p:sp>
      <p:sp>
        <p:nvSpPr>
          <p:cNvPr id="6" name="Slide Number Placeholder 5">
            <a:extLst>
              <a:ext uri="{FF2B5EF4-FFF2-40B4-BE49-F238E27FC236}">
                <a16:creationId xmlns:a16="http://schemas.microsoft.com/office/drawing/2014/main" id="{699E065B-C572-658E-BD49-53E275552BBA}"/>
              </a:ext>
            </a:extLst>
          </p:cNvPr>
          <p:cNvSpPr>
            <a:spLocks noGrp="1"/>
          </p:cNvSpPr>
          <p:nvPr>
            <p:ph type="sldNum" sz="quarter" idx="12"/>
          </p:nvPr>
        </p:nvSpPr>
        <p:spPr/>
        <p:txBody>
          <a:bodyPr/>
          <a:lstStyle/>
          <a:p>
            <a:fld id="{8614A71B-3918-4EA0-8DB8-B552C7A5C17C}" type="slidenum">
              <a:rPr lang="hu-HU" smtClean="0"/>
              <a:t>‹#›</a:t>
            </a:fld>
            <a:endParaRPr lang="hu-HU"/>
          </a:p>
        </p:txBody>
      </p:sp>
    </p:spTree>
    <p:extLst>
      <p:ext uri="{BB962C8B-B14F-4D97-AF65-F5344CB8AC3E}">
        <p14:creationId xmlns:p14="http://schemas.microsoft.com/office/powerpoint/2010/main" val="81057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32499" y="1916661"/>
            <a:ext cx="21734978"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32499" y="9583264"/>
            <a:ext cx="21734978"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732498" y="33366432"/>
            <a:ext cx="5669994" cy="1916653"/>
          </a:xfrm>
          <a:prstGeom prst="rect">
            <a:avLst/>
          </a:prstGeom>
        </p:spPr>
        <p:txBody>
          <a:bodyPr vert="horz" lIns="91440" tIns="45720" rIns="91440" bIns="45720" rtlCol="0" anchor="ctr"/>
          <a:lstStyle>
            <a:lvl1pPr algn="l">
              <a:defRPr sz="3307">
                <a:solidFill>
                  <a:schemeClr val="tx1">
                    <a:tint val="82000"/>
                  </a:schemeClr>
                </a:solidFill>
              </a:defRPr>
            </a:lvl1pPr>
          </a:lstStyle>
          <a:p>
            <a:fld id="{7A2BBB08-01D7-468F-B871-0D733E8D5D3A}" type="datetimeFigureOut">
              <a:rPr lang="hu-HU" smtClean="0"/>
              <a:t>2026. 10. 03.</a:t>
            </a:fld>
            <a:endParaRPr lang="hu-HU"/>
          </a:p>
        </p:txBody>
      </p:sp>
      <p:sp>
        <p:nvSpPr>
          <p:cNvPr id="5" name="Footer Placeholder 4"/>
          <p:cNvSpPr>
            <a:spLocks noGrp="1"/>
          </p:cNvSpPr>
          <p:nvPr>
            <p:ph type="ftr" sz="quarter" idx="3"/>
          </p:nvPr>
        </p:nvSpPr>
        <p:spPr>
          <a:xfrm>
            <a:off x="8347492" y="33366432"/>
            <a:ext cx="8504992" cy="1916653"/>
          </a:xfrm>
          <a:prstGeom prst="rect">
            <a:avLst/>
          </a:prstGeom>
        </p:spPr>
        <p:txBody>
          <a:bodyPr vert="horz" lIns="91440" tIns="45720" rIns="91440" bIns="45720" rtlCol="0" anchor="ctr"/>
          <a:lstStyle>
            <a:lvl1pPr algn="ctr">
              <a:defRPr sz="3307">
                <a:solidFill>
                  <a:schemeClr val="tx1">
                    <a:tint val="82000"/>
                  </a:schemeClr>
                </a:solidFill>
              </a:defRPr>
            </a:lvl1pPr>
          </a:lstStyle>
          <a:p>
            <a:endParaRPr lang="hu-HU"/>
          </a:p>
        </p:txBody>
      </p:sp>
      <p:sp>
        <p:nvSpPr>
          <p:cNvPr id="6" name="Slide Number Placeholder 5"/>
          <p:cNvSpPr>
            <a:spLocks noGrp="1"/>
          </p:cNvSpPr>
          <p:nvPr>
            <p:ph type="sldNum" sz="quarter" idx="4"/>
          </p:nvPr>
        </p:nvSpPr>
        <p:spPr>
          <a:xfrm>
            <a:off x="17797483" y="33366432"/>
            <a:ext cx="5669994" cy="1916653"/>
          </a:xfrm>
          <a:prstGeom prst="rect">
            <a:avLst/>
          </a:prstGeom>
        </p:spPr>
        <p:txBody>
          <a:bodyPr vert="horz" lIns="91440" tIns="45720" rIns="91440" bIns="45720" rtlCol="0" anchor="ctr"/>
          <a:lstStyle>
            <a:lvl1pPr algn="r">
              <a:defRPr sz="3307">
                <a:solidFill>
                  <a:schemeClr val="tx1">
                    <a:tint val="82000"/>
                  </a:schemeClr>
                </a:solidFill>
              </a:defRPr>
            </a:lvl1pPr>
          </a:lstStyle>
          <a:p>
            <a:fld id="{006009DC-32A3-4293-AFF4-FFC82B6EBBC4}" type="slidenum">
              <a:rPr lang="hu-HU" smtClean="0"/>
              <a:t>‹#›</a:t>
            </a:fld>
            <a:endParaRPr lang="hu-HU"/>
          </a:p>
        </p:txBody>
      </p:sp>
    </p:spTree>
    <p:extLst>
      <p:ext uri="{BB962C8B-B14F-4D97-AF65-F5344CB8AC3E}">
        <p14:creationId xmlns:p14="http://schemas.microsoft.com/office/powerpoint/2010/main" val="179956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519995" rtl="0" eaLnBrk="1" latinLnBrk="0" hangingPunct="1">
        <a:lnSpc>
          <a:spcPct val="90000"/>
        </a:lnSpc>
        <a:spcBef>
          <a:spcPct val="0"/>
        </a:spcBef>
        <a:buNone/>
        <a:defRPr sz="12126" kern="1200">
          <a:solidFill>
            <a:schemeClr val="tx1"/>
          </a:solidFill>
          <a:latin typeface="+mj-lt"/>
          <a:ea typeface="+mj-ea"/>
          <a:cs typeface="+mj-cs"/>
        </a:defRPr>
      </a:lvl1pPr>
    </p:titleStyle>
    <p:bodyStyle>
      <a:lvl1pPr marL="629999" indent="-629999" algn="l" defTabSz="2519995" rtl="0" eaLnBrk="1" latinLnBrk="0" hangingPunct="1">
        <a:lnSpc>
          <a:spcPct val="90000"/>
        </a:lnSpc>
        <a:spcBef>
          <a:spcPts val="2756"/>
        </a:spcBef>
        <a:buFont typeface="Arial" panose="020B0604020202020204" pitchFamily="34" charset="0"/>
        <a:buChar char="•"/>
        <a:defRPr sz="7717" kern="1200">
          <a:solidFill>
            <a:schemeClr val="tx1"/>
          </a:solidFill>
          <a:latin typeface="+mn-lt"/>
          <a:ea typeface="+mn-ea"/>
          <a:cs typeface="+mn-cs"/>
        </a:defRPr>
      </a:lvl1pPr>
      <a:lvl2pPr marL="1889996" indent="-629999" algn="l" defTabSz="2519995" rtl="0" eaLnBrk="1" latinLnBrk="0" hangingPunct="1">
        <a:lnSpc>
          <a:spcPct val="90000"/>
        </a:lnSpc>
        <a:spcBef>
          <a:spcPts val="1378"/>
        </a:spcBef>
        <a:buFont typeface="Arial" panose="020B0604020202020204" pitchFamily="34" charset="0"/>
        <a:buChar char="•"/>
        <a:defRPr sz="6614" kern="1200">
          <a:solidFill>
            <a:schemeClr val="tx1"/>
          </a:solidFill>
          <a:latin typeface="+mn-lt"/>
          <a:ea typeface="+mn-ea"/>
          <a:cs typeface="+mn-cs"/>
        </a:defRPr>
      </a:lvl2pPr>
      <a:lvl3pPr marL="3149994" indent="-629999" algn="l" defTabSz="2519995" rtl="0" eaLnBrk="1" latinLnBrk="0" hangingPunct="1">
        <a:lnSpc>
          <a:spcPct val="90000"/>
        </a:lnSpc>
        <a:spcBef>
          <a:spcPts val="1378"/>
        </a:spcBef>
        <a:buFont typeface="Arial" panose="020B0604020202020204" pitchFamily="34" charset="0"/>
        <a:buChar char="•"/>
        <a:defRPr sz="5512" kern="1200">
          <a:solidFill>
            <a:schemeClr val="tx1"/>
          </a:solidFill>
          <a:latin typeface="+mn-lt"/>
          <a:ea typeface="+mn-ea"/>
          <a:cs typeface="+mn-cs"/>
        </a:defRPr>
      </a:lvl3pPr>
      <a:lvl4pPr marL="440999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4pPr>
      <a:lvl5pPr marL="566998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5pPr>
      <a:lvl6pPr marL="6929986"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6pPr>
      <a:lvl7pPr marL="8189984"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7pPr>
      <a:lvl8pPr marL="9449981"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8pPr>
      <a:lvl9pPr marL="10709979" indent="-629999" algn="l" defTabSz="2519995" rtl="0" eaLnBrk="1" latinLnBrk="0" hangingPunct="1">
        <a:lnSpc>
          <a:spcPct val="90000"/>
        </a:lnSpc>
        <a:spcBef>
          <a:spcPts val="1378"/>
        </a:spcBef>
        <a:buFont typeface="Arial" panose="020B0604020202020204" pitchFamily="34" charset="0"/>
        <a:buChar char="•"/>
        <a:defRPr sz="4961" kern="1200">
          <a:solidFill>
            <a:schemeClr val="tx1"/>
          </a:solidFill>
          <a:latin typeface="+mn-lt"/>
          <a:ea typeface="+mn-ea"/>
          <a:cs typeface="+mn-cs"/>
        </a:defRPr>
      </a:lvl9pPr>
    </p:bodyStyle>
    <p:otherStyle>
      <a:defPPr>
        <a:defRPr lang="en-US"/>
      </a:defPPr>
      <a:lvl1pPr marL="0" algn="l" defTabSz="2519995" rtl="0" eaLnBrk="1" latinLnBrk="0" hangingPunct="1">
        <a:defRPr sz="4961" kern="1200">
          <a:solidFill>
            <a:schemeClr val="tx1"/>
          </a:solidFill>
          <a:latin typeface="+mn-lt"/>
          <a:ea typeface="+mn-ea"/>
          <a:cs typeface="+mn-cs"/>
        </a:defRPr>
      </a:lvl1pPr>
      <a:lvl2pPr marL="1259997" algn="l" defTabSz="2519995" rtl="0" eaLnBrk="1" latinLnBrk="0" hangingPunct="1">
        <a:defRPr sz="4961" kern="1200">
          <a:solidFill>
            <a:schemeClr val="tx1"/>
          </a:solidFill>
          <a:latin typeface="+mn-lt"/>
          <a:ea typeface="+mn-ea"/>
          <a:cs typeface="+mn-cs"/>
        </a:defRPr>
      </a:lvl2pPr>
      <a:lvl3pPr marL="2519995" algn="l" defTabSz="2519995" rtl="0" eaLnBrk="1" latinLnBrk="0" hangingPunct="1">
        <a:defRPr sz="4961" kern="1200">
          <a:solidFill>
            <a:schemeClr val="tx1"/>
          </a:solidFill>
          <a:latin typeface="+mn-lt"/>
          <a:ea typeface="+mn-ea"/>
          <a:cs typeface="+mn-cs"/>
        </a:defRPr>
      </a:lvl3pPr>
      <a:lvl4pPr marL="3779992" algn="l" defTabSz="2519995" rtl="0" eaLnBrk="1" latinLnBrk="0" hangingPunct="1">
        <a:defRPr sz="4961" kern="1200">
          <a:solidFill>
            <a:schemeClr val="tx1"/>
          </a:solidFill>
          <a:latin typeface="+mn-lt"/>
          <a:ea typeface="+mn-ea"/>
          <a:cs typeface="+mn-cs"/>
        </a:defRPr>
      </a:lvl4pPr>
      <a:lvl5pPr marL="5039990" algn="l" defTabSz="2519995" rtl="0" eaLnBrk="1" latinLnBrk="0" hangingPunct="1">
        <a:defRPr sz="4961" kern="1200">
          <a:solidFill>
            <a:schemeClr val="tx1"/>
          </a:solidFill>
          <a:latin typeface="+mn-lt"/>
          <a:ea typeface="+mn-ea"/>
          <a:cs typeface="+mn-cs"/>
        </a:defRPr>
      </a:lvl5pPr>
      <a:lvl6pPr marL="6299987" algn="l" defTabSz="2519995" rtl="0" eaLnBrk="1" latinLnBrk="0" hangingPunct="1">
        <a:defRPr sz="4961" kern="1200">
          <a:solidFill>
            <a:schemeClr val="tx1"/>
          </a:solidFill>
          <a:latin typeface="+mn-lt"/>
          <a:ea typeface="+mn-ea"/>
          <a:cs typeface="+mn-cs"/>
        </a:defRPr>
      </a:lvl6pPr>
      <a:lvl7pPr marL="7559985" algn="l" defTabSz="2519995" rtl="0" eaLnBrk="1" latinLnBrk="0" hangingPunct="1">
        <a:defRPr sz="4961" kern="1200">
          <a:solidFill>
            <a:schemeClr val="tx1"/>
          </a:solidFill>
          <a:latin typeface="+mn-lt"/>
          <a:ea typeface="+mn-ea"/>
          <a:cs typeface="+mn-cs"/>
        </a:defRPr>
      </a:lvl7pPr>
      <a:lvl8pPr marL="8819982" algn="l" defTabSz="2519995" rtl="0" eaLnBrk="1" latinLnBrk="0" hangingPunct="1">
        <a:defRPr sz="4961" kern="1200">
          <a:solidFill>
            <a:schemeClr val="tx1"/>
          </a:solidFill>
          <a:latin typeface="+mn-lt"/>
          <a:ea typeface="+mn-ea"/>
          <a:cs typeface="+mn-cs"/>
        </a:defRPr>
      </a:lvl8pPr>
      <a:lvl9pPr marL="10079980" algn="l" defTabSz="2519995" rtl="0" eaLnBrk="1" latinLnBrk="0" hangingPunct="1">
        <a:defRPr sz="496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3861FA-A219-D375-DF78-C747A3551A89}"/>
              </a:ext>
            </a:extLst>
          </p:cNvPr>
          <p:cNvSpPr>
            <a:spLocks noGrp="1"/>
          </p:cNvSpPr>
          <p:nvPr>
            <p:ph type="title"/>
          </p:nvPr>
        </p:nvSpPr>
        <p:spPr>
          <a:xfrm>
            <a:off x="1731963" y="1916113"/>
            <a:ext cx="21736050" cy="6959600"/>
          </a:xfrm>
          <a:prstGeom prst="rect">
            <a:avLst/>
          </a:prstGeom>
        </p:spPr>
        <p:txBody>
          <a:bodyPr vert="horz" lIns="91440" tIns="45720" rIns="91440" bIns="45720" rtlCol="0" anchor="ctr">
            <a:normAutofit/>
          </a:bodyPr>
          <a:lstStyle/>
          <a:p>
            <a:r>
              <a:rPr lang="en-US"/>
              <a:t>Click to edit Master title style</a:t>
            </a:r>
            <a:endParaRPr lang="hu-HU"/>
          </a:p>
        </p:txBody>
      </p:sp>
      <p:sp>
        <p:nvSpPr>
          <p:cNvPr id="3" name="Text Placeholder 2">
            <a:extLst>
              <a:ext uri="{FF2B5EF4-FFF2-40B4-BE49-F238E27FC236}">
                <a16:creationId xmlns:a16="http://schemas.microsoft.com/office/drawing/2014/main" id="{00BC0EB4-4289-C4B0-E3A1-FBBB6CD112B2}"/>
              </a:ext>
            </a:extLst>
          </p:cNvPr>
          <p:cNvSpPr>
            <a:spLocks noGrp="1"/>
          </p:cNvSpPr>
          <p:nvPr>
            <p:ph type="body" idx="1"/>
          </p:nvPr>
        </p:nvSpPr>
        <p:spPr>
          <a:xfrm>
            <a:off x="1731963" y="9583738"/>
            <a:ext cx="21736050" cy="228409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u-HU"/>
          </a:p>
        </p:txBody>
      </p:sp>
      <p:sp>
        <p:nvSpPr>
          <p:cNvPr id="4" name="Date Placeholder 3">
            <a:extLst>
              <a:ext uri="{FF2B5EF4-FFF2-40B4-BE49-F238E27FC236}">
                <a16:creationId xmlns:a16="http://schemas.microsoft.com/office/drawing/2014/main" id="{28A63BAB-CBD6-DBA2-2AA2-365998DBCB11}"/>
              </a:ext>
            </a:extLst>
          </p:cNvPr>
          <p:cNvSpPr>
            <a:spLocks noGrp="1"/>
          </p:cNvSpPr>
          <p:nvPr>
            <p:ph type="dt" sz="half" idx="2"/>
          </p:nvPr>
        </p:nvSpPr>
        <p:spPr>
          <a:xfrm>
            <a:off x="1731963" y="33366075"/>
            <a:ext cx="5670550" cy="1917700"/>
          </a:xfrm>
          <a:prstGeom prst="rect">
            <a:avLst/>
          </a:prstGeom>
        </p:spPr>
        <p:txBody>
          <a:bodyPr vert="horz" lIns="91440" tIns="45720" rIns="91440" bIns="45720" rtlCol="0" anchor="ctr"/>
          <a:lstStyle>
            <a:lvl1pPr algn="l">
              <a:defRPr sz="1200">
                <a:solidFill>
                  <a:schemeClr val="tx1">
                    <a:tint val="82000"/>
                  </a:schemeClr>
                </a:solidFill>
              </a:defRPr>
            </a:lvl1pPr>
          </a:lstStyle>
          <a:p>
            <a:fld id="{82C62A71-71C0-4B1A-9F60-92DB1E390E66}" type="datetimeFigureOut">
              <a:rPr lang="hu-HU" smtClean="0"/>
              <a:t>2026. 10. 04.</a:t>
            </a:fld>
            <a:endParaRPr lang="hu-HU"/>
          </a:p>
        </p:txBody>
      </p:sp>
      <p:sp>
        <p:nvSpPr>
          <p:cNvPr id="5" name="Footer Placeholder 4">
            <a:extLst>
              <a:ext uri="{FF2B5EF4-FFF2-40B4-BE49-F238E27FC236}">
                <a16:creationId xmlns:a16="http://schemas.microsoft.com/office/drawing/2014/main" id="{CE6377A0-FF89-F92A-0EBD-5322C227B4CB}"/>
              </a:ext>
            </a:extLst>
          </p:cNvPr>
          <p:cNvSpPr>
            <a:spLocks noGrp="1"/>
          </p:cNvSpPr>
          <p:nvPr>
            <p:ph type="ftr" sz="quarter" idx="3"/>
          </p:nvPr>
        </p:nvSpPr>
        <p:spPr>
          <a:xfrm>
            <a:off x="8347075" y="33366075"/>
            <a:ext cx="8505825" cy="1917700"/>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u-HU"/>
          </a:p>
        </p:txBody>
      </p:sp>
      <p:sp>
        <p:nvSpPr>
          <p:cNvPr id="6" name="Slide Number Placeholder 5">
            <a:extLst>
              <a:ext uri="{FF2B5EF4-FFF2-40B4-BE49-F238E27FC236}">
                <a16:creationId xmlns:a16="http://schemas.microsoft.com/office/drawing/2014/main" id="{D53F71F0-686F-F3D5-7511-3737E336138E}"/>
              </a:ext>
            </a:extLst>
          </p:cNvPr>
          <p:cNvSpPr>
            <a:spLocks noGrp="1"/>
          </p:cNvSpPr>
          <p:nvPr>
            <p:ph type="sldNum" sz="quarter" idx="4"/>
          </p:nvPr>
        </p:nvSpPr>
        <p:spPr>
          <a:xfrm>
            <a:off x="17797463" y="33366075"/>
            <a:ext cx="5670550" cy="1917700"/>
          </a:xfrm>
          <a:prstGeom prst="rect">
            <a:avLst/>
          </a:prstGeom>
        </p:spPr>
        <p:txBody>
          <a:bodyPr vert="horz" lIns="91440" tIns="45720" rIns="91440" bIns="45720" rtlCol="0" anchor="ctr"/>
          <a:lstStyle>
            <a:lvl1pPr algn="r">
              <a:defRPr sz="1200">
                <a:solidFill>
                  <a:schemeClr val="tx1">
                    <a:tint val="82000"/>
                  </a:schemeClr>
                </a:solidFill>
              </a:defRPr>
            </a:lvl1pPr>
          </a:lstStyle>
          <a:p>
            <a:fld id="{8614A71B-3918-4EA0-8DB8-B552C7A5C17C}" type="slidenum">
              <a:rPr lang="hu-HU" smtClean="0"/>
              <a:t>‹#›</a:t>
            </a:fld>
            <a:endParaRPr lang="hu-HU"/>
          </a:p>
        </p:txBody>
      </p:sp>
    </p:spTree>
    <p:extLst>
      <p:ext uri="{BB962C8B-B14F-4D97-AF65-F5344CB8AC3E}">
        <p14:creationId xmlns:p14="http://schemas.microsoft.com/office/powerpoint/2010/main" val="4570767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RTidas/DroneDefibrillator" TargetMode="External"/><Relationship Id="rId13" Type="http://schemas.openxmlformats.org/officeDocument/2006/relationships/hyperlink" Target="https://www.egeszsegkalauz.hu/extra-ajanlo/a-magyar-emberek-fele-sziv-es-errendszeri-betegseg-miatt-veszti-eletet-hogyan/cz5jnx4" TargetMode="External"/><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hyperlink" Target="https://nominatim.org/" TargetMode="External"/><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hyperlink" Target="https://data.humdata.org/dataset/worldpop-population-counts-2015-2030-hun" TargetMode="External"/><Relationship Id="rId5" Type="http://schemas.openxmlformats.org/officeDocument/2006/relationships/image" Target="../media/image4.png"/><Relationship Id="rId10" Type="http://schemas.openxmlformats.org/officeDocument/2006/relationships/hyperlink" Target="https://dataverse.no/dataset.xhtml?persistentId=doi:10.18710/L41IGQ" TargetMode="External"/><Relationship Id="rId4" Type="http://schemas.openxmlformats.org/officeDocument/2006/relationships/image" Target="../media/image3.png"/><Relationship Id="rId9" Type="http://schemas.openxmlformats.org/officeDocument/2006/relationships/hyperlink" Target="https://www.ksh.hu/apps/hntr.egyeb?p_lang=HU&amp;p_sablon=LETOLT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E4F8137-F77C-9F2D-AA83-A51F88FDFF07}"/>
              </a:ext>
            </a:extLst>
          </p:cNvPr>
          <p:cNvSpPr txBox="1"/>
          <p:nvPr/>
        </p:nvSpPr>
        <p:spPr>
          <a:xfrm>
            <a:off x="1082843" y="747211"/>
            <a:ext cx="11359644" cy="3785652"/>
          </a:xfrm>
          <a:prstGeom prst="rect">
            <a:avLst/>
          </a:prstGeom>
          <a:noFill/>
        </p:spPr>
        <p:txBody>
          <a:bodyPr wrap="square" rtlCol="0">
            <a:spAutoFit/>
          </a:bodyPr>
          <a:lstStyle/>
          <a:p>
            <a:r>
              <a:rPr lang="hu-HU" sz="6000" b="1" dirty="0"/>
              <a:t>Automata külső </a:t>
            </a:r>
            <a:r>
              <a:rPr lang="hu-HU" sz="6000" b="1" dirty="0" err="1"/>
              <a:t>defibrillátor</a:t>
            </a:r>
            <a:r>
              <a:rPr lang="hu-HU" sz="6000" b="1" dirty="0"/>
              <a:t> (AED) kiszállítása drónnal:</a:t>
            </a:r>
            <a:br>
              <a:rPr lang="hu-HU" sz="6000" dirty="0"/>
            </a:br>
            <a:r>
              <a:rPr lang="hu-HU" sz="6000" dirty="0"/>
              <a:t>Térinformatikai megoldások és operációkutatási optimalizálás</a:t>
            </a:r>
          </a:p>
        </p:txBody>
      </p:sp>
      <p:sp>
        <p:nvSpPr>
          <p:cNvPr id="10" name="TextBox 9">
            <a:extLst>
              <a:ext uri="{FF2B5EF4-FFF2-40B4-BE49-F238E27FC236}">
                <a16:creationId xmlns:a16="http://schemas.microsoft.com/office/drawing/2014/main" id="{EEA507D2-AD5E-3E91-338B-AFC8AB11FAB1}"/>
              </a:ext>
            </a:extLst>
          </p:cNvPr>
          <p:cNvSpPr txBox="1"/>
          <p:nvPr/>
        </p:nvSpPr>
        <p:spPr>
          <a:xfrm>
            <a:off x="12757488" y="747210"/>
            <a:ext cx="11359644" cy="3785652"/>
          </a:xfrm>
          <a:prstGeom prst="rect">
            <a:avLst/>
          </a:prstGeom>
          <a:noFill/>
        </p:spPr>
        <p:txBody>
          <a:bodyPr wrap="square" rtlCol="0">
            <a:spAutoFit/>
          </a:bodyPr>
          <a:lstStyle/>
          <a:p>
            <a:r>
              <a:rPr lang="en-US" sz="6000" b="1" dirty="0"/>
              <a:t>Automated external defibrillator (AED) delivery by drone:</a:t>
            </a:r>
            <a:br>
              <a:rPr lang="hu-HU" sz="6000" b="1" dirty="0"/>
            </a:br>
            <a:r>
              <a:rPr lang="en-US" sz="6000" dirty="0"/>
              <a:t>Geospatial solutions and operations research optimization</a:t>
            </a:r>
            <a:endParaRPr lang="hu-HU" sz="6000" dirty="0"/>
          </a:p>
        </p:txBody>
      </p:sp>
      <p:pic>
        <p:nvPicPr>
          <p:cNvPr id="17" name="Content Placeholder 13">
            <a:extLst>
              <a:ext uri="{FF2B5EF4-FFF2-40B4-BE49-F238E27FC236}">
                <a16:creationId xmlns:a16="http://schemas.microsoft.com/office/drawing/2014/main" id="{B8251EFD-B2CE-97E6-18C4-568387BA4C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2896" y="7123747"/>
            <a:ext cx="4294181" cy="4294181"/>
          </a:xfrm>
          <a:prstGeom prst="rect">
            <a:avLst/>
          </a:prstGeom>
        </p:spPr>
      </p:pic>
      <p:sp>
        <p:nvSpPr>
          <p:cNvPr id="25" name="TextBox 24">
            <a:extLst>
              <a:ext uri="{FF2B5EF4-FFF2-40B4-BE49-F238E27FC236}">
                <a16:creationId xmlns:a16="http://schemas.microsoft.com/office/drawing/2014/main" id="{E1A7BF24-2472-D4E4-B0E2-4ADE841B5DE0}"/>
              </a:ext>
            </a:extLst>
          </p:cNvPr>
          <p:cNvSpPr txBox="1"/>
          <p:nvPr/>
        </p:nvSpPr>
        <p:spPr>
          <a:xfrm>
            <a:off x="1082843" y="6108085"/>
            <a:ext cx="7916778" cy="5032147"/>
          </a:xfrm>
          <a:prstGeom prst="rect">
            <a:avLst/>
          </a:prstGeom>
          <a:noFill/>
        </p:spPr>
        <p:txBody>
          <a:bodyPr wrap="square" rtlCol="0">
            <a:spAutoFit/>
          </a:bodyPr>
          <a:lstStyle/>
          <a:p>
            <a:pPr algn="ctr"/>
            <a:r>
              <a:rPr lang="hu-HU" sz="4500" b="1" dirty="0"/>
              <a:t>Absztrakt</a:t>
            </a:r>
          </a:p>
          <a:p>
            <a:pPr algn="just"/>
            <a:endParaRPr lang="hu-HU" sz="2400" dirty="0"/>
          </a:p>
          <a:p>
            <a:pPr algn="just"/>
            <a:r>
              <a:rPr lang="hu-HU" dirty="0"/>
              <a:t>A szívmegállás túlélési esélyének növelésére ígéretes megoldás az automata külső </a:t>
            </a:r>
            <a:r>
              <a:rPr lang="hu-HU" dirty="0" err="1"/>
              <a:t>defibrillátorok</a:t>
            </a:r>
            <a:r>
              <a:rPr lang="hu-HU" dirty="0"/>
              <a:t> (AED) drónokkal történő kiszállítása. Kutatásunk célja megtervezni egy Magyarországot lefedő, AED-ket szállító drónhálózatot. Ehhez készítettünk egy adatbázist, mely tartalmazza a postacímeket, a népesség számát és geográfiai koordinátáit. A megfelelő drón és ezáltal a hatósugár (és hasznos teher) kiválasztása három paraméter mentén lett súlyozva többszempontú döntéselemzéssel (MCDA): Végsebesség (0.5), hatótáv (0.2), súly (inverz 0.2) és hasznos teher (0.1). A demográfiai eloszlást </a:t>
            </a:r>
            <a:r>
              <a:rPr lang="hu-HU" dirty="0" err="1"/>
              <a:t>izoband</a:t>
            </a:r>
            <a:r>
              <a:rPr lang="hu-HU" dirty="0"/>
              <a:t> vonalak képében jelenítettük meg és </a:t>
            </a:r>
            <a:r>
              <a:rPr lang="hu-HU" dirty="0" err="1"/>
              <a:t>GeoTiff</a:t>
            </a:r>
            <a:r>
              <a:rPr lang="hu-HU" dirty="0"/>
              <a:t> fájl segítségével ellenőriztük az eredményünket szemrevételezéssel. A drónbázisok elhelyezését egy kapacitáskorlátos mohó algoritmus optimalizálta az éves hazai esetszámok (63 000 / év) térbeli eloszlása alapján. Interaktív webes szimulációnk igazolja: 30 km-es hatótávú drónok alkalmazásával kevesebb, mint 50 bázis is elegendő az országos AED igények legalább 95%-</a:t>
            </a:r>
            <a:r>
              <a:rPr lang="hu-HU" dirty="0" err="1"/>
              <a:t>ának</a:t>
            </a:r>
            <a:r>
              <a:rPr lang="hu-HU" dirty="0"/>
              <a:t> lefedésére.</a:t>
            </a:r>
            <a:endParaRPr lang="hu-HU" sz="2400" dirty="0"/>
          </a:p>
        </p:txBody>
      </p:sp>
      <p:sp>
        <p:nvSpPr>
          <p:cNvPr id="35" name="TextBox 34">
            <a:extLst>
              <a:ext uri="{FF2B5EF4-FFF2-40B4-BE49-F238E27FC236}">
                <a16:creationId xmlns:a16="http://schemas.microsoft.com/office/drawing/2014/main" id="{D1397E6A-30A4-CA74-8C40-9AB3936ACC69}"/>
              </a:ext>
            </a:extLst>
          </p:cNvPr>
          <p:cNvSpPr txBox="1"/>
          <p:nvPr/>
        </p:nvSpPr>
        <p:spPr>
          <a:xfrm>
            <a:off x="16200355" y="6108085"/>
            <a:ext cx="7916778" cy="5032147"/>
          </a:xfrm>
          <a:prstGeom prst="rect">
            <a:avLst/>
          </a:prstGeom>
          <a:noFill/>
        </p:spPr>
        <p:txBody>
          <a:bodyPr wrap="square" rtlCol="0">
            <a:spAutoFit/>
          </a:bodyPr>
          <a:lstStyle/>
          <a:p>
            <a:pPr algn="ctr"/>
            <a:r>
              <a:rPr lang="hu-HU" sz="4500" b="1" dirty="0" err="1"/>
              <a:t>Abstract</a:t>
            </a:r>
            <a:endParaRPr lang="hu-HU" sz="4500" b="1" dirty="0"/>
          </a:p>
          <a:p>
            <a:pPr algn="just"/>
            <a:endParaRPr lang="hu-HU" sz="2400" dirty="0"/>
          </a:p>
          <a:p>
            <a:pPr algn="just"/>
            <a:r>
              <a:rPr lang="hu-HU" dirty="0" err="1"/>
              <a:t>To</a:t>
            </a:r>
            <a:r>
              <a:rPr lang="hu-HU" dirty="0"/>
              <a:t> </a:t>
            </a:r>
            <a:r>
              <a:rPr lang="hu-HU" dirty="0" err="1"/>
              <a:t>improve</a:t>
            </a:r>
            <a:r>
              <a:rPr lang="hu-HU" dirty="0"/>
              <a:t> </a:t>
            </a:r>
            <a:r>
              <a:rPr lang="hu-HU" dirty="0" err="1"/>
              <a:t>survival</a:t>
            </a:r>
            <a:r>
              <a:rPr lang="hu-HU" dirty="0"/>
              <a:t> </a:t>
            </a:r>
            <a:r>
              <a:rPr lang="hu-HU" dirty="0" err="1"/>
              <a:t>rates</a:t>
            </a:r>
            <a:r>
              <a:rPr lang="hu-HU" dirty="0"/>
              <a:t> </a:t>
            </a:r>
            <a:r>
              <a:rPr lang="hu-HU" dirty="0" err="1"/>
              <a:t>after</a:t>
            </a:r>
            <a:r>
              <a:rPr lang="hu-HU" dirty="0"/>
              <a:t> </a:t>
            </a:r>
            <a:r>
              <a:rPr lang="hu-HU" dirty="0" err="1"/>
              <a:t>cardiac</a:t>
            </a:r>
            <a:r>
              <a:rPr lang="hu-HU" dirty="0"/>
              <a:t> </a:t>
            </a:r>
            <a:r>
              <a:rPr lang="hu-HU" dirty="0" err="1"/>
              <a:t>arrest</a:t>
            </a:r>
            <a:r>
              <a:rPr lang="hu-HU" dirty="0"/>
              <a:t>, </a:t>
            </a:r>
            <a:r>
              <a:rPr lang="hu-HU" dirty="0" err="1"/>
              <a:t>delivering</a:t>
            </a:r>
            <a:r>
              <a:rPr lang="hu-HU" dirty="0"/>
              <a:t> </a:t>
            </a:r>
            <a:r>
              <a:rPr lang="hu-HU" dirty="0" err="1"/>
              <a:t>automated</a:t>
            </a:r>
            <a:r>
              <a:rPr lang="hu-HU" dirty="0"/>
              <a:t> </a:t>
            </a:r>
            <a:r>
              <a:rPr lang="hu-HU" dirty="0" err="1"/>
              <a:t>external</a:t>
            </a:r>
            <a:r>
              <a:rPr lang="hu-HU" dirty="0"/>
              <a:t> </a:t>
            </a:r>
            <a:r>
              <a:rPr lang="hu-HU" dirty="0" err="1"/>
              <a:t>defibrillators</a:t>
            </a:r>
            <a:r>
              <a:rPr lang="hu-HU" dirty="0"/>
              <a:t> (</a:t>
            </a:r>
            <a:r>
              <a:rPr lang="hu-HU" dirty="0" err="1"/>
              <a:t>AEDs</a:t>
            </a:r>
            <a:r>
              <a:rPr lang="hu-HU" dirty="0"/>
              <a:t>) </a:t>
            </a:r>
            <a:r>
              <a:rPr lang="hu-HU" dirty="0" err="1"/>
              <a:t>with</a:t>
            </a:r>
            <a:r>
              <a:rPr lang="hu-HU" dirty="0"/>
              <a:t> </a:t>
            </a:r>
            <a:r>
              <a:rPr lang="hu-HU" dirty="0" err="1"/>
              <a:t>drones</a:t>
            </a:r>
            <a:r>
              <a:rPr lang="hu-HU" dirty="0"/>
              <a:t> </a:t>
            </a:r>
            <a:r>
              <a:rPr lang="hu-HU" dirty="0" err="1"/>
              <a:t>could</a:t>
            </a:r>
            <a:r>
              <a:rPr lang="hu-HU" dirty="0"/>
              <a:t> be an </a:t>
            </a:r>
            <a:r>
              <a:rPr lang="hu-HU" dirty="0" err="1"/>
              <a:t>effective</a:t>
            </a:r>
            <a:r>
              <a:rPr lang="hu-HU" dirty="0"/>
              <a:t> </a:t>
            </a:r>
            <a:r>
              <a:rPr lang="hu-HU" dirty="0" err="1"/>
              <a:t>solution</a:t>
            </a:r>
            <a:r>
              <a:rPr lang="hu-HU" dirty="0"/>
              <a:t>. </a:t>
            </a:r>
            <a:r>
              <a:rPr lang="hu-HU" dirty="0" err="1"/>
              <a:t>Our</a:t>
            </a:r>
            <a:r>
              <a:rPr lang="hu-HU" dirty="0"/>
              <a:t> </a:t>
            </a:r>
            <a:r>
              <a:rPr lang="hu-HU" dirty="0" err="1"/>
              <a:t>study</a:t>
            </a:r>
            <a:r>
              <a:rPr lang="hu-HU" dirty="0"/>
              <a:t> </a:t>
            </a:r>
            <a:r>
              <a:rPr lang="hu-HU" dirty="0" err="1"/>
              <a:t>focuses</a:t>
            </a:r>
            <a:r>
              <a:rPr lang="hu-HU" dirty="0"/>
              <a:t> </a:t>
            </a:r>
            <a:r>
              <a:rPr lang="hu-HU" dirty="0" err="1"/>
              <a:t>on</a:t>
            </a:r>
            <a:r>
              <a:rPr lang="hu-HU" dirty="0"/>
              <a:t> designing a Hungary-</a:t>
            </a:r>
            <a:r>
              <a:rPr lang="hu-HU" dirty="0" err="1"/>
              <a:t>wide</a:t>
            </a:r>
            <a:r>
              <a:rPr lang="hu-HU" dirty="0"/>
              <a:t> AED </a:t>
            </a:r>
            <a:r>
              <a:rPr lang="hu-HU" dirty="0" err="1"/>
              <a:t>delivery</a:t>
            </a:r>
            <a:r>
              <a:rPr lang="hu-HU" dirty="0"/>
              <a:t> </a:t>
            </a:r>
            <a:r>
              <a:rPr lang="hu-HU" dirty="0" err="1"/>
              <a:t>drone</a:t>
            </a:r>
            <a:r>
              <a:rPr lang="hu-HU" dirty="0"/>
              <a:t> </a:t>
            </a:r>
            <a:r>
              <a:rPr lang="hu-HU" dirty="0" err="1"/>
              <a:t>network</a:t>
            </a:r>
            <a:r>
              <a:rPr lang="hu-HU" dirty="0"/>
              <a:t>. </a:t>
            </a:r>
            <a:r>
              <a:rPr lang="hu-HU" dirty="0" err="1"/>
              <a:t>For</a:t>
            </a:r>
            <a:r>
              <a:rPr lang="hu-HU" dirty="0"/>
              <a:t> </a:t>
            </a:r>
            <a:r>
              <a:rPr lang="hu-HU" dirty="0" err="1"/>
              <a:t>this</a:t>
            </a:r>
            <a:r>
              <a:rPr lang="hu-HU" dirty="0"/>
              <a:t> </a:t>
            </a:r>
            <a:r>
              <a:rPr lang="hu-HU" dirty="0" err="1"/>
              <a:t>purpose</a:t>
            </a:r>
            <a:r>
              <a:rPr lang="hu-HU" dirty="0"/>
              <a:t>, </a:t>
            </a:r>
            <a:r>
              <a:rPr lang="hu-HU" dirty="0" err="1"/>
              <a:t>we</a:t>
            </a:r>
            <a:r>
              <a:rPr lang="hu-HU" dirty="0"/>
              <a:t> </a:t>
            </a:r>
            <a:r>
              <a:rPr lang="hu-HU" dirty="0" err="1"/>
              <a:t>designed</a:t>
            </a:r>
            <a:r>
              <a:rPr lang="hu-HU" dirty="0"/>
              <a:t> a </a:t>
            </a:r>
            <a:r>
              <a:rPr lang="hu-HU" dirty="0" err="1"/>
              <a:t>database</a:t>
            </a:r>
            <a:r>
              <a:rPr lang="hu-HU" dirty="0"/>
              <a:t> </a:t>
            </a:r>
            <a:r>
              <a:rPr lang="hu-HU" dirty="0" err="1"/>
              <a:t>that</a:t>
            </a:r>
            <a:r>
              <a:rPr lang="hu-HU" dirty="0"/>
              <a:t> </a:t>
            </a:r>
            <a:r>
              <a:rPr lang="hu-HU" dirty="0" err="1"/>
              <a:t>contains</a:t>
            </a:r>
            <a:r>
              <a:rPr lang="hu-HU" dirty="0"/>
              <a:t> </a:t>
            </a:r>
            <a:r>
              <a:rPr lang="hu-HU" dirty="0" err="1"/>
              <a:t>the</a:t>
            </a:r>
            <a:r>
              <a:rPr lang="hu-HU" dirty="0"/>
              <a:t> </a:t>
            </a:r>
            <a:r>
              <a:rPr lang="hu-HU" dirty="0" err="1"/>
              <a:t>postal</a:t>
            </a:r>
            <a:r>
              <a:rPr lang="hu-HU" dirty="0"/>
              <a:t> </a:t>
            </a:r>
            <a:r>
              <a:rPr lang="hu-HU" dirty="0" err="1"/>
              <a:t>codes</a:t>
            </a:r>
            <a:r>
              <a:rPr lang="hu-HU" dirty="0"/>
              <a:t>, </a:t>
            </a:r>
            <a:r>
              <a:rPr lang="hu-HU" dirty="0" err="1"/>
              <a:t>the</a:t>
            </a:r>
            <a:r>
              <a:rPr lang="hu-HU" dirty="0"/>
              <a:t> </a:t>
            </a:r>
            <a:r>
              <a:rPr lang="hu-HU" dirty="0" err="1"/>
              <a:t>population</a:t>
            </a:r>
            <a:r>
              <a:rPr lang="hu-HU" dirty="0"/>
              <a:t> </a:t>
            </a:r>
            <a:r>
              <a:rPr lang="hu-HU" dirty="0" err="1"/>
              <a:t>count</a:t>
            </a:r>
            <a:r>
              <a:rPr lang="hu-HU" dirty="0"/>
              <a:t>, and </a:t>
            </a:r>
            <a:r>
              <a:rPr lang="hu-HU" dirty="0" err="1"/>
              <a:t>their</a:t>
            </a:r>
            <a:r>
              <a:rPr lang="hu-HU" dirty="0"/>
              <a:t> </a:t>
            </a:r>
            <a:r>
              <a:rPr lang="hu-HU" dirty="0" err="1"/>
              <a:t>geographical</a:t>
            </a:r>
            <a:r>
              <a:rPr lang="hu-HU" dirty="0"/>
              <a:t> </a:t>
            </a:r>
            <a:r>
              <a:rPr lang="hu-HU" dirty="0" err="1"/>
              <a:t>coordinates</a:t>
            </a:r>
            <a:r>
              <a:rPr lang="hu-HU" dirty="0"/>
              <a:t>. The </a:t>
            </a:r>
            <a:r>
              <a:rPr lang="hu-HU" dirty="0" err="1"/>
              <a:t>appropriate</a:t>
            </a:r>
            <a:r>
              <a:rPr lang="hu-HU" dirty="0"/>
              <a:t> </a:t>
            </a:r>
            <a:r>
              <a:rPr lang="hu-HU" dirty="0" err="1"/>
              <a:t>drone</a:t>
            </a:r>
            <a:r>
              <a:rPr lang="hu-HU" dirty="0"/>
              <a:t> and </a:t>
            </a:r>
            <a:r>
              <a:rPr lang="hu-HU" dirty="0" err="1"/>
              <a:t>thus</a:t>
            </a:r>
            <a:r>
              <a:rPr lang="hu-HU" dirty="0"/>
              <a:t> </a:t>
            </a:r>
            <a:r>
              <a:rPr lang="hu-HU" dirty="0" err="1"/>
              <a:t>the</a:t>
            </a:r>
            <a:r>
              <a:rPr lang="hu-HU" dirty="0"/>
              <a:t> </a:t>
            </a:r>
            <a:r>
              <a:rPr lang="hu-HU" dirty="0" err="1"/>
              <a:t>operational</a:t>
            </a:r>
            <a:r>
              <a:rPr lang="hu-HU" dirty="0"/>
              <a:t> </a:t>
            </a:r>
            <a:r>
              <a:rPr lang="hu-HU" dirty="0" err="1"/>
              <a:t>range</a:t>
            </a:r>
            <a:r>
              <a:rPr lang="hu-HU" dirty="0"/>
              <a:t> (and </a:t>
            </a:r>
            <a:r>
              <a:rPr lang="hu-HU" dirty="0" err="1"/>
              <a:t>payload</a:t>
            </a:r>
            <a:r>
              <a:rPr lang="hu-HU" dirty="0"/>
              <a:t>) </a:t>
            </a:r>
            <a:r>
              <a:rPr lang="hu-HU" dirty="0" err="1"/>
              <a:t>selection</a:t>
            </a:r>
            <a:r>
              <a:rPr lang="hu-HU" dirty="0"/>
              <a:t> </a:t>
            </a:r>
            <a:r>
              <a:rPr lang="hu-HU" dirty="0" err="1"/>
              <a:t>was</a:t>
            </a:r>
            <a:r>
              <a:rPr lang="hu-HU" dirty="0"/>
              <a:t> </a:t>
            </a:r>
            <a:r>
              <a:rPr lang="hu-HU" dirty="0" err="1"/>
              <a:t>made</a:t>
            </a:r>
            <a:r>
              <a:rPr lang="hu-HU" dirty="0"/>
              <a:t> </a:t>
            </a:r>
            <a:r>
              <a:rPr lang="hu-HU" dirty="0" err="1"/>
              <a:t>by</a:t>
            </a:r>
            <a:r>
              <a:rPr lang="hu-HU" dirty="0"/>
              <a:t> </a:t>
            </a:r>
            <a:r>
              <a:rPr lang="hu-HU" dirty="0" err="1"/>
              <a:t>weighting</a:t>
            </a:r>
            <a:r>
              <a:rPr lang="hu-HU" dirty="0"/>
              <a:t> </a:t>
            </a:r>
            <a:r>
              <a:rPr lang="hu-HU" dirty="0" err="1"/>
              <a:t>three</a:t>
            </a:r>
            <a:r>
              <a:rPr lang="hu-HU" dirty="0"/>
              <a:t> </a:t>
            </a:r>
            <a:r>
              <a:rPr lang="hu-HU" dirty="0" err="1"/>
              <a:t>parameters</a:t>
            </a:r>
            <a:r>
              <a:rPr lang="hu-HU" dirty="0"/>
              <a:t> </a:t>
            </a:r>
            <a:r>
              <a:rPr lang="hu-HU" dirty="0" err="1"/>
              <a:t>with</a:t>
            </a:r>
            <a:r>
              <a:rPr lang="hu-HU" dirty="0"/>
              <a:t> multi-</a:t>
            </a:r>
            <a:r>
              <a:rPr lang="hu-HU" dirty="0" err="1"/>
              <a:t>criteria</a:t>
            </a:r>
            <a:r>
              <a:rPr lang="hu-HU" dirty="0"/>
              <a:t> decision </a:t>
            </a:r>
            <a:r>
              <a:rPr lang="hu-HU" dirty="0" err="1"/>
              <a:t>analysis</a:t>
            </a:r>
            <a:r>
              <a:rPr lang="hu-HU" dirty="0"/>
              <a:t> (MCDA): Top </a:t>
            </a:r>
            <a:r>
              <a:rPr lang="hu-HU" dirty="0" err="1"/>
              <a:t>speed</a:t>
            </a:r>
            <a:r>
              <a:rPr lang="hu-HU" dirty="0"/>
              <a:t> (0.5), </a:t>
            </a:r>
            <a:r>
              <a:rPr lang="hu-HU" dirty="0" err="1"/>
              <a:t>operational</a:t>
            </a:r>
            <a:r>
              <a:rPr lang="hu-HU" dirty="0"/>
              <a:t> </a:t>
            </a:r>
            <a:r>
              <a:rPr lang="hu-HU" dirty="0" err="1"/>
              <a:t>range</a:t>
            </a:r>
            <a:r>
              <a:rPr lang="hu-HU" dirty="0"/>
              <a:t> (0.2), </a:t>
            </a:r>
            <a:r>
              <a:rPr lang="hu-HU" dirty="0" err="1"/>
              <a:t>weight</a:t>
            </a:r>
            <a:r>
              <a:rPr lang="hu-HU" dirty="0"/>
              <a:t> (</a:t>
            </a:r>
            <a:r>
              <a:rPr lang="hu-HU" dirty="0" err="1"/>
              <a:t>inverted</a:t>
            </a:r>
            <a:r>
              <a:rPr lang="hu-HU" dirty="0"/>
              <a:t> 0.2), and </a:t>
            </a:r>
            <a:r>
              <a:rPr lang="hu-HU" dirty="0" err="1"/>
              <a:t>payload</a:t>
            </a:r>
            <a:r>
              <a:rPr lang="hu-HU" dirty="0"/>
              <a:t> (0.1). </a:t>
            </a:r>
            <a:r>
              <a:rPr lang="hu-HU" dirty="0" err="1"/>
              <a:t>Demographic</a:t>
            </a:r>
            <a:r>
              <a:rPr lang="hu-HU" dirty="0"/>
              <a:t> </a:t>
            </a:r>
            <a:r>
              <a:rPr lang="hu-HU" dirty="0" err="1"/>
              <a:t>distribution</a:t>
            </a:r>
            <a:r>
              <a:rPr lang="hu-HU" dirty="0"/>
              <a:t> </a:t>
            </a:r>
            <a:r>
              <a:rPr lang="hu-HU" dirty="0" err="1"/>
              <a:t>was</a:t>
            </a:r>
            <a:r>
              <a:rPr lang="hu-HU" dirty="0"/>
              <a:t> </a:t>
            </a:r>
            <a:r>
              <a:rPr lang="hu-HU" dirty="0" err="1"/>
              <a:t>visualised</a:t>
            </a:r>
            <a:r>
              <a:rPr lang="hu-HU" dirty="0"/>
              <a:t> </a:t>
            </a:r>
            <a:r>
              <a:rPr lang="hu-HU" dirty="0" err="1"/>
              <a:t>with</a:t>
            </a:r>
            <a:r>
              <a:rPr lang="hu-HU" dirty="0"/>
              <a:t> </a:t>
            </a:r>
            <a:r>
              <a:rPr lang="hu-HU" dirty="0" err="1"/>
              <a:t>isoband</a:t>
            </a:r>
            <a:r>
              <a:rPr lang="hu-HU" dirty="0"/>
              <a:t> </a:t>
            </a:r>
            <a:r>
              <a:rPr lang="hu-HU" dirty="0" err="1"/>
              <a:t>lines</a:t>
            </a:r>
            <a:r>
              <a:rPr lang="hu-HU" dirty="0"/>
              <a:t> and </a:t>
            </a:r>
            <a:r>
              <a:rPr lang="hu-HU" dirty="0" err="1"/>
              <a:t>cross-checked</a:t>
            </a:r>
            <a:r>
              <a:rPr lang="hu-HU" dirty="0"/>
              <a:t> </a:t>
            </a:r>
            <a:r>
              <a:rPr lang="hu-HU" dirty="0" err="1"/>
              <a:t>visually</a:t>
            </a:r>
            <a:r>
              <a:rPr lang="hu-HU" dirty="0"/>
              <a:t> </a:t>
            </a:r>
            <a:r>
              <a:rPr lang="hu-HU" dirty="0" err="1"/>
              <a:t>with</a:t>
            </a:r>
            <a:r>
              <a:rPr lang="hu-HU" dirty="0"/>
              <a:t> </a:t>
            </a:r>
            <a:r>
              <a:rPr lang="hu-HU" dirty="0" err="1"/>
              <a:t>the</a:t>
            </a:r>
            <a:r>
              <a:rPr lang="hu-HU" dirty="0"/>
              <a:t> </a:t>
            </a:r>
            <a:r>
              <a:rPr lang="hu-HU" dirty="0" err="1"/>
              <a:t>help</a:t>
            </a:r>
            <a:r>
              <a:rPr lang="hu-HU" dirty="0"/>
              <a:t> of a </a:t>
            </a:r>
            <a:r>
              <a:rPr lang="hu-HU" dirty="0" err="1"/>
              <a:t>GeoTiff</a:t>
            </a:r>
            <a:r>
              <a:rPr lang="hu-HU" dirty="0"/>
              <a:t> file. The </a:t>
            </a:r>
            <a:r>
              <a:rPr lang="hu-HU" dirty="0" err="1"/>
              <a:t>placement</a:t>
            </a:r>
            <a:r>
              <a:rPr lang="hu-HU" dirty="0"/>
              <a:t> of </a:t>
            </a:r>
            <a:r>
              <a:rPr lang="hu-HU" dirty="0" err="1"/>
              <a:t>the</a:t>
            </a:r>
            <a:r>
              <a:rPr lang="hu-HU" dirty="0"/>
              <a:t> </a:t>
            </a:r>
            <a:r>
              <a:rPr lang="hu-HU" dirty="0" err="1"/>
              <a:t>drone</a:t>
            </a:r>
            <a:r>
              <a:rPr lang="hu-HU" dirty="0"/>
              <a:t> </a:t>
            </a:r>
            <a:r>
              <a:rPr lang="hu-HU" dirty="0" err="1"/>
              <a:t>bases</a:t>
            </a:r>
            <a:r>
              <a:rPr lang="hu-HU" dirty="0"/>
              <a:t> </a:t>
            </a:r>
            <a:r>
              <a:rPr lang="hu-HU" dirty="0" err="1"/>
              <a:t>was</a:t>
            </a:r>
            <a:r>
              <a:rPr lang="hu-HU" dirty="0"/>
              <a:t> </a:t>
            </a:r>
            <a:r>
              <a:rPr lang="hu-HU" dirty="0" err="1"/>
              <a:t>optimised</a:t>
            </a:r>
            <a:r>
              <a:rPr lang="hu-HU" dirty="0"/>
              <a:t> </a:t>
            </a:r>
            <a:r>
              <a:rPr lang="hu-HU" dirty="0" err="1"/>
              <a:t>by</a:t>
            </a:r>
            <a:r>
              <a:rPr lang="hu-HU" dirty="0"/>
              <a:t> a </a:t>
            </a:r>
            <a:r>
              <a:rPr lang="hu-HU" dirty="0" err="1"/>
              <a:t>capacity-constrained</a:t>
            </a:r>
            <a:r>
              <a:rPr lang="hu-HU" dirty="0"/>
              <a:t> </a:t>
            </a:r>
            <a:r>
              <a:rPr lang="hu-HU" dirty="0" err="1"/>
              <a:t>greedy</a:t>
            </a:r>
            <a:r>
              <a:rPr lang="hu-HU" dirty="0"/>
              <a:t> </a:t>
            </a:r>
            <a:r>
              <a:rPr lang="hu-HU" dirty="0" err="1"/>
              <a:t>algorithm</a:t>
            </a:r>
            <a:r>
              <a:rPr lang="hu-HU" dirty="0"/>
              <a:t> </a:t>
            </a:r>
            <a:r>
              <a:rPr lang="hu-HU" dirty="0" err="1"/>
              <a:t>based</a:t>
            </a:r>
            <a:r>
              <a:rPr lang="hu-HU" dirty="0"/>
              <a:t> </a:t>
            </a:r>
            <a:r>
              <a:rPr lang="hu-HU" dirty="0" err="1"/>
              <a:t>on</a:t>
            </a:r>
            <a:r>
              <a:rPr lang="hu-HU" dirty="0"/>
              <a:t> </a:t>
            </a:r>
            <a:r>
              <a:rPr lang="hu-HU" dirty="0" err="1"/>
              <a:t>the</a:t>
            </a:r>
            <a:r>
              <a:rPr lang="hu-HU" dirty="0"/>
              <a:t> </a:t>
            </a:r>
            <a:r>
              <a:rPr lang="hu-HU" dirty="0" err="1"/>
              <a:t>distribution</a:t>
            </a:r>
            <a:r>
              <a:rPr lang="hu-HU" dirty="0"/>
              <a:t> of </a:t>
            </a:r>
            <a:r>
              <a:rPr lang="hu-HU" dirty="0" err="1"/>
              <a:t>the</a:t>
            </a:r>
            <a:r>
              <a:rPr lang="hu-HU" dirty="0"/>
              <a:t> </a:t>
            </a:r>
            <a:r>
              <a:rPr lang="hu-HU" dirty="0" err="1"/>
              <a:t>yearly</a:t>
            </a:r>
            <a:r>
              <a:rPr lang="hu-HU" dirty="0"/>
              <a:t> </a:t>
            </a:r>
            <a:r>
              <a:rPr lang="hu-HU" dirty="0" err="1"/>
              <a:t>cases</a:t>
            </a:r>
            <a:r>
              <a:rPr lang="hu-HU" dirty="0"/>
              <a:t> (63 000 / </a:t>
            </a:r>
            <a:r>
              <a:rPr lang="hu-HU" dirty="0" err="1"/>
              <a:t>year</a:t>
            </a:r>
            <a:r>
              <a:rPr lang="hu-HU" dirty="0"/>
              <a:t>). </a:t>
            </a:r>
            <a:r>
              <a:rPr lang="hu-HU" dirty="0" err="1"/>
              <a:t>Our</a:t>
            </a:r>
            <a:r>
              <a:rPr lang="hu-HU" dirty="0"/>
              <a:t> </a:t>
            </a:r>
            <a:r>
              <a:rPr lang="hu-HU" dirty="0" err="1"/>
              <a:t>interactive</a:t>
            </a:r>
            <a:r>
              <a:rPr lang="hu-HU" dirty="0"/>
              <a:t> web-</a:t>
            </a:r>
            <a:r>
              <a:rPr lang="hu-HU" dirty="0" err="1"/>
              <a:t>based</a:t>
            </a:r>
            <a:r>
              <a:rPr lang="hu-HU" dirty="0"/>
              <a:t> </a:t>
            </a:r>
            <a:r>
              <a:rPr lang="hu-HU" dirty="0" err="1"/>
              <a:t>simulation</a:t>
            </a:r>
            <a:r>
              <a:rPr lang="hu-HU" dirty="0"/>
              <a:t> </a:t>
            </a:r>
            <a:r>
              <a:rPr lang="hu-HU" dirty="0" err="1"/>
              <a:t>demonstrates</a:t>
            </a:r>
            <a:r>
              <a:rPr lang="hu-HU" dirty="0"/>
              <a:t> </a:t>
            </a:r>
            <a:r>
              <a:rPr lang="hu-HU" dirty="0" err="1"/>
              <a:t>that</a:t>
            </a:r>
            <a:r>
              <a:rPr lang="hu-HU" dirty="0"/>
              <a:t> </a:t>
            </a:r>
            <a:r>
              <a:rPr lang="hu-HU" dirty="0" err="1"/>
              <a:t>with</a:t>
            </a:r>
            <a:r>
              <a:rPr lang="hu-HU" dirty="0"/>
              <a:t> a 30 km </a:t>
            </a:r>
            <a:r>
              <a:rPr lang="hu-HU" dirty="0" err="1"/>
              <a:t>operational</a:t>
            </a:r>
            <a:r>
              <a:rPr lang="hu-HU" dirty="0"/>
              <a:t> </a:t>
            </a:r>
            <a:r>
              <a:rPr lang="hu-HU" dirty="0" err="1"/>
              <a:t>radius</a:t>
            </a:r>
            <a:r>
              <a:rPr lang="hu-HU" dirty="0"/>
              <a:t>, </a:t>
            </a:r>
            <a:r>
              <a:rPr lang="hu-HU" dirty="0" err="1"/>
              <a:t>fewer</a:t>
            </a:r>
            <a:r>
              <a:rPr lang="hu-HU" dirty="0"/>
              <a:t> </a:t>
            </a:r>
            <a:r>
              <a:rPr lang="hu-HU" dirty="0" err="1"/>
              <a:t>than</a:t>
            </a:r>
            <a:r>
              <a:rPr lang="hu-HU" dirty="0"/>
              <a:t> 50 </a:t>
            </a:r>
            <a:r>
              <a:rPr lang="hu-HU" dirty="0" err="1"/>
              <a:t>bases</a:t>
            </a:r>
            <a:r>
              <a:rPr lang="hu-HU" dirty="0"/>
              <a:t> </a:t>
            </a:r>
            <a:r>
              <a:rPr lang="hu-HU" dirty="0" err="1"/>
              <a:t>are</a:t>
            </a:r>
            <a:r>
              <a:rPr lang="hu-HU" dirty="0"/>
              <a:t> </a:t>
            </a:r>
            <a:r>
              <a:rPr lang="hu-HU" dirty="0" err="1"/>
              <a:t>sufficient</a:t>
            </a:r>
            <a:r>
              <a:rPr lang="hu-HU" dirty="0"/>
              <a:t> </a:t>
            </a:r>
            <a:r>
              <a:rPr lang="hu-HU" dirty="0" err="1"/>
              <a:t>to</a:t>
            </a:r>
            <a:r>
              <a:rPr lang="hu-HU" dirty="0"/>
              <a:t> </a:t>
            </a:r>
            <a:r>
              <a:rPr lang="hu-HU" dirty="0" err="1"/>
              <a:t>cover</a:t>
            </a:r>
            <a:r>
              <a:rPr lang="hu-HU" dirty="0"/>
              <a:t> </a:t>
            </a:r>
            <a:r>
              <a:rPr lang="hu-HU" dirty="0" err="1"/>
              <a:t>at</a:t>
            </a:r>
            <a:r>
              <a:rPr lang="hu-HU" dirty="0"/>
              <a:t> </a:t>
            </a:r>
            <a:r>
              <a:rPr lang="hu-HU" dirty="0" err="1"/>
              <a:t>least</a:t>
            </a:r>
            <a:r>
              <a:rPr lang="hu-HU" dirty="0"/>
              <a:t> 95% of </a:t>
            </a:r>
            <a:r>
              <a:rPr lang="hu-HU" dirty="0" err="1"/>
              <a:t>the</a:t>
            </a:r>
            <a:r>
              <a:rPr lang="hu-HU" dirty="0"/>
              <a:t> </a:t>
            </a:r>
            <a:r>
              <a:rPr lang="hu-HU" dirty="0" err="1"/>
              <a:t>country’s</a:t>
            </a:r>
            <a:r>
              <a:rPr lang="hu-HU" dirty="0"/>
              <a:t> </a:t>
            </a:r>
            <a:r>
              <a:rPr lang="hu-HU" dirty="0" err="1"/>
              <a:t>demand</a:t>
            </a:r>
            <a:r>
              <a:rPr lang="hu-HU" dirty="0"/>
              <a:t>.</a:t>
            </a:r>
            <a:endParaRPr lang="hu-HU" dirty="0">
              <a:effectLst/>
            </a:endParaRPr>
          </a:p>
        </p:txBody>
      </p:sp>
      <p:sp>
        <p:nvSpPr>
          <p:cNvPr id="41" name="TextBox 40">
            <a:extLst>
              <a:ext uri="{FF2B5EF4-FFF2-40B4-BE49-F238E27FC236}">
                <a16:creationId xmlns:a16="http://schemas.microsoft.com/office/drawing/2014/main" id="{B7F0DE6D-3239-9E15-6A3C-79746192FEFB}"/>
              </a:ext>
            </a:extLst>
          </p:cNvPr>
          <p:cNvSpPr txBox="1"/>
          <p:nvPr/>
        </p:nvSpPr>
        <p:spPr>
          <a:xfrm>
            <a:off x="9727361" y="6108085"/>
            <a:ext cx="2715123" cy="1015663"/>
          </a:xfrm>
          <a:prstGeom prst="rect">
            <a:avLst/>
          </a:prstGeom>
          <a:noFill/>
        </p:spPr>
        <p:txBody>
          <a:bodyPr wrap="square" rtlCol="0">
            <a:spAutoFit/>
          </a:bodyPr>
          <a:lstStyle/>
          <a:p>
            <a:pPr algn="ctr"/>
            <a:r>
              <a:rPr lang="hu-HU" sz="3000" b="1" dirty="0"/>
              <a:t>Interaktív szimuláció!</a:t>
            </a:r>
          </a:p>
        </p:txBody>
      </p:sp>
      <p:sp>
        <p:nvSpPr>
          <p:cNvPr id="43" name="TextBox 42">
            <a:extLst>
              <a:ext uri="{FF2B5EF4-FFF2-40B4-BE49-F238E27FC236}">
                <a16:creationId xmlns:a16="http://schemas.microsoft.com/office/drawing/2014/main" id="{0F8AF901-AA53-8D73-B4A7-A211FCDB3EDA}"/>
              </a:ext>
            </a:extLst>
          </p:cNvPr>
          <p:cNvSpPr txBox="1"/>
          <p:nvPr/>
        </p:nvSpPr>
        <p:spPr>
          <a:xfrm>
            <a:off x="12757491" y="6108084"/>
            <a:ext cx="2715120" cy="1015663"/>
          </a:xfrm>
          <a:prstGeom prst="rect">
            <a:avLst/>
          </a:prstGeom>
          <a:noFill/>
        </p:spPr>
        <p:txBody>
          <a:bodyPr wrap="square" rtlCol="0">
            <a:spAutoFit/>
          </a:bodyPr>
          <a:lstStyle/>
          <a:p>
            <a:pPr algn="ctr"/>
            <a:r>
              <a:rPr lang="hu-HU" sz="3000" b="1" dirty="0" err="1"/>
              <a:t>Interactive</a:t>
            </a:r>
            <a:r>
              <a:rPr lang="hu-HU" sz="3000" b="1" dirty="0"/>
              <a:t> </a:t>
            </a:r>
            <a:r>
              <a:rPr lang="hu-HU" sz="3000" b="1" dirty="0" err="1"/>
              <a:t>simulation</a:t>
            </a:r>
            <a:r>
              <a:rPr lang="hu-HU" sz="3000" b="1" dirty="0"/>
              <a:t>!</a:t>
            </a:r>
          </a:p>
        </p:txBody>
      </p:sp>
      <p:sp>
        <p:nvSpPr>
          <p:cNvPr id="45" name="TextBox 44">
            <a:extLst>
              <a:ext uri="{FF2B5EF4-FFF2-40B4-BE49-F238E27FC236}">
                <a16:creationId xmlns:a16="http://schemas.microsoft.com/office/drawing/2014/main" id="{21290206-03C2-246A-B927-11538E8E1127}"/>
              </a:ext>
            </a:extLst>
          </p:cNvPr>
          <p:cNvSpPr txBox="1"/>
          <p:nvPr/>
        </p:nvSpPr>
        <p:spPr>
          <a:xfrm>
            <a:off x="1082842" y="4532862"/>
            <a:ext cx="11359641" cy="1477328"/>
          </a:xfrm>
          <a:prstGeom prst="rect">
            <a:avLst/>
          </a:prstGeom>
          <a:noFill/>
        </p:spPr>
        <p:txBody>
          <a:bodyPr wrap="square" rtlCol="0">
            <a:spAutoFit/>
          </a:bodyPr>
          <a:lstStyle/>
          <a:p>
            <a:r>
              <a:rPr lang="hu-HU" sz="3000" dirty="0"/>
              <a:t>Szerzők:		Veres Zoltán, Dr. Takács István</a:t>
            </a:r>
            <a:br>
              <a:rPr lang="hu-HU" sz="3000" dirty="0"/>
            </a:br>
            <a:r>
              <a:rPr lang="hu-HU" sz="3000" dirty="0"/>
              <a:t>				Tokaj-Hegyalja Egyetem, Lorántffy Intézet</a:t>
            </a:r>
            <a:br>
              <a:rPr lang="hu-HU" sz="3000" dirty="0"/>
            </a:br>
            <a:r>
              <a:rPr lang="hu-HU" sz="3000" dirty="0"/>
              <a:t>E-mail:		veres.zoltan@unithe.hu</a:t>
            </a:r>
          </a:p>
        </p:txBody>
      </p:sp>
      <p:sp>
        <p:nvSpPr>
          <p:cNvPr id="47" name="TextBox 46">
            <a:extLst>
              <a:ext uri="{FF2B5EF4-FFF2-40B4-BE49-F238E27FC236}">
                <a16:creationId xmlns:a16="http://schemas.microsoft.com/office/drawing/2014/main" id="{EAC92B33-ED10-C1D9-7EE4-564BAC62A720}"/>
              </a:ext>
            </a:extLst>
          </p:cNvPr>
          <p:cNvSpPr txBox="1"/>
          <p:nvPr/>
        </p:nvSpPr>
        <p:spPr>
          <a:xfrm>
            <a:off x="12757491" y="4528720"/>
            <a:ext cx="11359641" cy="1477328"/>
          </a:xfrm>
          <a:prstGeom prst="rect">
            <a:avLst/>
          </a:prstGeom>
          <a:noFill/>
        </p:spPr>
        <p:txBody>
          <a:bodyPr wrap="square" rtlCol="0">
            <a:spAutoFit/>
          </a:bodyPr>
          <a:lstStyle/>
          <a:p>
            <a:r>
              <a:rPr lang="hu-HU" sz="3000" dirty="0" err="1"/>
              <a:t>Authors</a:t>
            </a:r>
            <a:r>
              <a:rPr lang="hu-HU" sz="3000" dirty="0"/>
              <a:t>:	Zoltán Veres, Dr. István Takács</a:t>
            </a:r>
          </a:p>
          <a:p>
            <a:r>
              <a:rPr lang="hu-HU" sz="3000" dirty="0"/>
              <a:t>				University of Tokaj, Lorántffy Institute</a:t>
            </a:r>
            <a:br>
              <a:rPr lang="hu-HU" sz="3000" dirty="0"/>
            </a:br>
            <a:r>
              <a:rPr lang="hu-HU" sz="3000" dirty="0"/>
              <a:t>E-mail:		veres.zoltan@unithe.hu</a:t>
            </a:r>
          </a:p>
        </p:txBody>
      </p:sp>
      <p:pic>
        <p:nvPicPr>
          <p:cNvPr id="49" name="Picture 48">
            <a:extLst>
              <a:ext uri="{FF2B5EF4-FFF2-40B4-BE49-F238E27FC236}">
                <a16:creationId xmlns:a16="http://schemas.microsoft.com/office/drawing/2014/main" id="{BB9738F9-97D4-C9BB-7823-B2B27B014A3E}"/>
              </a:ext>
            </a:extLst>
          </p:cNvPr>
          <p:cNvPicPr>
            <a:picLocks noChangeAspect="1"/>
          </p:cNvPicPr>
          <p:nvPr/>
        </p:nvPicPr>
        <p:blipFill>
          <a:blip r:embed="rId3"/>
          <a:stretch>
            <a:fillRect/>
          </a:stretch>
        </p:blipFill>
        <p:spPr>
          <a:xfrm>
            <a:off x="6469795" y="12475493"/>
            <a:ext cx="12260386" cy="7621064"/>
          </a:xfrm>
          <a:prstGeom prst="rect">
            <a:avLst/>
          </a:prstGeom>
        </p:spPr>
      </p:pic>
      <p:sp>
        <p:nvSpPr>
          <p:cNvPr id="51" name="TextBox 50">
            <a:extLst>
              <a:ext uri="{FF2B5EF4-FFF2-40B4-BE49-F238E27FC236}">
                <a16:creationId xmlns:a16="http://schemas.microsoft.com/office/drawing/2014/main" id="{350FC8D4-8CF3-D3E5-3652-E77F3C5F5252}"/>
              </a:ext>
            </a:extLst>
          </p:cNvPr>
          <p:cNvSpPr txBox="1"/>
          <p:nvPr/>
        </p:nvSpPr>
        <p:spPr>
          <a:xfrm>
            <a:off x="1082843" y="11398702"/>
            <a:ext cx="5386952" cy="8910131"/>
          </a:xfrm>
          <a:prstGeom prst="rect">
            <a:avLst/>
          </a:prstGeom>
          <a:noFill/>
        </p:spPr>
        <p:txBody>
          <a:bodyPr wrap="square" rtlCol="0">
            <a:spAutoFit/>
          </a:bodyPr>
          <a:lstStyle/>
          <a:p>
            <a:pPr algn="ctr"/>
            <a:r>
              <a:rPr lang="hu-HU" sz="4500" b="1" dirty="0"/>
              <a:t>Módszertan</a:t>
            </a:r>
          </a:p>
          <a:p>
            <a:pPr algn="just"/>
            <a:endParaRPr lang="hu-HU" sz="2400" dirty="0"/>
          </a:p>
          <a:p>
            <a:pPr algn="just"/>
            <a:r>
              <a:rPr lang="hu-HU" dirty="0"/>
              <a:t>A kutatás egy </a:t>
            </a:r>
            <a:r>
              <a:rPr lang="hu-HU" dirty="0" err="1"/>
              <a:t>adatvezérelt</a:t>
            </a:r>
            <a:r>
              <a:rPr lang="hu-HU" dirty="0"/>
              <a:t> keretrendszerre épül, amely a térinformatikát és az operációkutatást ötvözi négy fő lépésben.</a:t>
            </a:r>
            <a:br>
              <a:rPr lang="hu-HU" dirty="0"/>
            </a:br>
            <a:r>
              <a:rPr lang="hu-HU" b="1" dirty="0"/>
              <a:t>Térinformatikai (GIS) modellezés:</a:t>
            </a:r>
            <a:r>
              <a:rPr lang="hu-HU" dirty="0"/>
              <a:t> Magyarország eloszlását irányítószám-szintű demográfiai adatok alapján határoztuk meg, melyeket </a:t>
            </a:r>
            <a:r>
              <a:rPr lang="hu-HU" dirty="0" err="1"/>
              <a:t>izoband</a:t>
            </a:r>
            <a:r>
              <a:rPr lang="hu-HU" dirty="0"/>
              <a:t> sűrűségi zónák segítségével térképeztünk fel. A </a:t>
            </a:r>
            <a:r>
              <a:rPr lang="hu-HU" dirty="0" err="1"/>
              <a:t>modelt</a:t>
            </a:r>
            <a:r>
              <a:rPr lang="hu-HU" dirty="0"/>
              <a:t> egy 100 méteres felbontású raszteres (</a:t>
            </a:r>
            <a:r>
              <a:rPr lang="hu-HU" dirty="0" err="1"/>
              <a:t>GeoTiff</a:t>
            </a:r>
            <a:r>
              <a:rPr lang="hu-HU" dirty="0"/>
              <a:t>) népsűrűségi adatbázissal </a:t>
            </a:r>
            <a:r>
              <a:rPr lang="hu-HU" dirty="0" err="1"/>
              <a:t>validáltuk</a:t>
            </a:r>
            <a:r>
              <a:rPr lang="hu-HU" dirty="0"/>
              <a:t>.</a:t>
            </a:r>
            <a:br>
              <a:rPr lang="hu-HU" dirty="0"/>
            </a:br>
            <a:r>
              <a:rPr lang="hu-HU" b="1" dirty="0"/>
              <a:t>Többszempontú döntéselemzés (MCDA):</a:t>
            </a:r>
            <a:r>
              <a:rPr lang="hu-HU" dirty="0"/>
              <a:t> A feladathoz a legalkalmasabb drón kiválasztását egy súlyozott pontozórendszerrel vittük véghez. A </a:t>
            </a:r>
            <a:r>
              <a:rPr lang="hu-HU" dirty="0" err="1"/>
              <a:t>model</a:t>
            </a:r>
            <a:r>
              <a:rPr lang="hu-HU" dirty="0"/>
              <a:t> a végsebességet (50%), a hatótávot (20%), biztonságot és kezelést segítő maximális felszállótömeget (inverz 20%) és a hasznos terhet (10%) vette figyelembe.</a:t>
            </a:r>
            <a:br>
              <a:rPr lang="hu-HU" dirty="0"/>
            </a:br>
            <a:r>
              <a:rPr lang="hu-HU" b="1" dirty="0"/>
              <a:t>Hálózat-optimalizálás:</a:t>
            </a:r>
            <a:r>
              <a:rPr lang="hu-HU" dirty="0"/>
              <a:t> A bázisok elhelyezését, létesítmény-elhelyezési problémaként (</a:t>
            </a:r>
            <a:r>
              <a:rPr lang="hu-HU" dirty="0" err="1"/>
              <a:t>Facility</a:t>
            </a:r>
            <a:r>
              <a:rPr lang="hu-HU" dirty="0"/>
              <a:t> </a:t>
            </a:r>
            <a:r>
              <a:rPr lang="hu-HU" dirty="0" err="1"/>
              <a:t>Location</a:t>
            </a:r>
            <a:r>
              <a:rPr lang="hu-HU" dirty="0"/>
              <a:t> </a:t>
            </a:r>
            <a:r>
              <a:rPr lang="hu-HU" dirty="0" err="1"/>
              <a:t>Problem</a:t>
            </a:r>
            <a:r>
              <a:rPr lang="hu-HU" dirty="0"/>
              <a:t>) közelítettük meg. Kapacitáskorlátos mohó algoritmust (</a:t>
            </a:r>
            <a:r>
              <a:rPr lang="hu-HU" dirty="0" err="1"/>
              <a:t>Greedy</a:t>
            </a:r>
            <a:r>
              <a:rPr lang="hu-HU" dirty="0"/>
              <a:t> </a:t>
            </a:r>
            <a:r>
              <a:rPr lang="hu-HU" dirty="0" err="1"/>
              <a:t>algorithm</a:t>
            </a:r>
            <a:r>
              <a:rPr lang="hu-HU" dirty="0"/>
              <a:t>) alkalmaztunk, melyet az évi becsült 63 000 hazai eset népességre vetített eloszlása alapján minimalizálta a szükséges bázisok számát.</a:t>
            </a:r>
            <a:br>
              <a:rPr lang="hu-HU" dirty="0"/>
            </a:br>
            <a:r>
              <a:rPr lang="hu-HU" b="1" dirty="0"/>
              <a:t>Interaktív szimuláció:</a:t>
            </a:r>
            <a:r>
              <a:rPr lang="hu-HU" dirty="0"/>
              <a:t> Web alapú térképes döntéstámogató rendszert (</a:t>
            </a:r>
            <a:r>
              <a:rPr lang="hu-HU" dirty="0" err="1"/>
              <a:t>dashboard</a:t>
            </a:r>
            <a:r>
              <a:rPr lang="hu-HU" dirty="0"/>
              <a:t>) fejlesztettünk, amely valós időben számolja újra a hálózat lefedettségét a bemeneti paraméterek (hatótávolság, drón és bázis kapacitás) alapján.</a:t>
            </a:r>
            <a:endParaRPr lang="hu-HU" sz="2400" dirty="0"/>
          </a:p>
        </p:txBody>
      </p:sp>
      <p:sp>
        <p:nvSpPr>
          <p:cNvPr id="53" name="TextBox 52">
            <a:extLst>
              <a:ext uri="{FF2B5EF4-FFF2-40B4-BE49-F238E27FC236}">
                <a16:creationId xmlns:a16="http://schemas.microsoft.com/office/drawing/2014/main" id="{0BF68857-5697-FED3-E82B-C6072AC6BAEA}"/>
              </a:ext>
            </a:extLst>
          </p:cNvPr>
          <p:cNvSpPr txBox="1"/>
          <p:nvPr/>
        </p:nvSpPr>
        <p:spPr>
          <a:xfrm>
            <a:off x="18730180" y="11416712"/>
            <a:ext cx="5386952" cy="8633133"/>
          </a:xfrm>
          <a:prstGeom prst="rect">
            <a:avLst/>
          </a:prstGeom>
          <a:noFill/>
        </p:spPr>
        <p:txBody>
          <a:bodyPr wrap="square" rtlCol="0">
            <a:spAutoFit/>
          </a:bodyPr>
          <a:lstStyle/>
          <a:p>
            <a:pPr algn="ctr"/>
            <a:r>
              <a:rPr lang="hu-HU" sz="4500" b="1" dirty="0" err="1"/>
              <a:t>Methodology</a:t>
            </a:r>
            <a:endParaRPr lang="hu-HU" sz="4500" b="1" dirty="0"/>
          </a:p>
          <a:p>
            <a:endParaRPr lang="hu-HU" sz="2400" dirty="0"/>
          </a:p>
          <a:p>
            <a:pPr algn="just"/>
            <a:r>
              <a:rPr lang="hu-HU" dirty="0"/>
              <a:t>The </a:t>
            </a:r>
            <a:r>
              <a:rPr lang="hu-HU" dirty="0" err="1"/>
              <a:t>research</a:t>
            </a:r>
            <a:r>
              <a:rPr lang="hu-HU" dirty="0"/>
              <a:t> is </a:t>
            </a:r>
            <a:r>
              <a:rPr lang="hu-HU" dirty="0" err="1"/>
              <a:t>based</a:t>
            </a:r>
            <a:r>
              <a:rPr lang="hu-HU" dirty="0"/>
              <a:t> </a:t>
            </a:r>
            <a:r>
              <a:rPr lang="hu-HU" dirty="0" err="1"/>
              <a:t>on</a:t>
            </a:r>
            <a:r>
              <a:rPr lang="hu-HU" dirty="0"/>
              <a:t> a </a:t>
            </a:r>
            <a:r>
              <a:rPr lang="hu-HU" dirty="0" err="1"/>
              <a:t>data-driven</a:t>
            </a:r>
            <a:r>
              <a:rPr lang="hu-HU" dirty="0"/>
              <a:t> </a:t>
            </a:r>
            <a:r>
              <a:rPr lang="hu-HU" dirty="0" err="1"/>
              <a:t>framework</a:t>
            </a:r>
            <a:r>
              <a:rPr lang="hu-HU" dirty="0"/>
              <a:t>, </a:t>
            </a:r>
            <a:r>
              <a:rPr lang="hu-HU" dirty="0" err="1"/>
              <a:t>which</a:t>
            </a:r>
            <a:r>
              <a:rPr lang="hu-HU" dirty="0"/>
              <a:t> </a:t>
            </a:r>
            <a:r>
              <a:rPr lang="hu-HU" dirty="0" err="1"/>
              <a:t>combines</a:t>
            </a:r>
            <a:r>
              <a:rPr lang="hu-HU" dirty="0"/>
              <a:t> </a:t>
            </a:r>
            <a:r>
              <a:rPr lang="hu-HU" dirty="0" err="1"/>
              <a:t>geographical</a:t>
            </a:r>
            <a:r>
              <a:rPr lang="hu-HU" dirty="0"/>
              <a:t> </a:t>
            </a:r>
            <a:r>
              <a:rPr lang="hu-HU" dirty="0" err="1"/>
              <a:t>information</a:t>
            </a:r>
            <a:r>
              <a:rPr lang="hu-HU" dirty="0"/>
              <a:t> </a:t>
            </a:r>
            <a:r>
              <a:rPr lang="hu-HU" dirty="0" err="1"/>
              <a:t>systems</a:t>
            </a:r>
            <a:r>
              <a:rPr lang="hu-HU" dirty="0"/>
              <a:t> (GIS) in </a:t>
            </a:r>
            <a:r>
              <a:rPr lang="hu-HU" dirty="0" err="1"/>
              <a:t>four</a:t>
            </a:r>
            <a:r>
              <a:rPr lang="hu-HU" dirty="0"/>
              <a:t> </a:t>
            </a:r>
            <a:r>
              <a:rPr lang="hu-HU" dirty="0" err="1"/>
              <a:t>steps</a:t>
            </a:r>
            <a:r>
              <a:rPr lang="hu-HU" dirty="0"/>
              <a:t>:</a:t>
            </a:r>
            <a:br>
              <a:rPr lang="hu-HU" dirty="0"/>
            </a:br>
            <a:r>
              <a:rPr lang="hu-HU" b="1" dirty="0"/>
              <a:t>GIS </a:t>
            </a:r>
            <a:r>
              <a:rPr lang="hu-HU" b="1" dirty="0" err="1"/>
              <a:t>modeling</a:t>
            </a:r>
            <a:r>
              <a:rPr lang="hu-HU" b="1" dirty="0"/>
              <a:t>:</a:t>
            </a:r>
            <a:r>
              <a:rPr lang="hu-HU" dirty="0"/>
              <a:t> </a:t>
            </a:r>
            <a:r>
              <a:rPr lang="hu-HU" dirty="0" err="1"/>
              <a:t>We</a:t>
            </a:r>
            <a:r>
              <a:rPr lang="hu-HU" dirty="0"/>
              <a:t> </a:t>
            </a:r>
            <a:r>
              <a:rPr lang="hu-HU" dirty="0" err="1"/>
              <a:t>determined</a:t>
            </a:r>
            <a:r>
              <a:rPr lang="hu-HU" dirty="0"/>
              <a:t> </a:t>
            </a:r>
            <a:r>
              <a:rPr lang="hu-HU" dirty="0" err="1"/>
              <a:t>the</a:t>
            </a:r>
            <a:r>
              <a:rPr lang="hu-HU" dirty="0"/>
              <a:t> </a:t>
            </a:r>
            <a:r>
              <a:rPr lang="hu-HU" dirty="0" err="1"/>
              <a:t>distribution</a:t>
            </a:r>
            <a:r>
              <a:rPr lang="hu-HU" dirty="0"/>
              <a:t> of </a:t>
            </a:r>
            <a:r>
              <a:rPr lang="hu-HU" dirty="0" err="1"/>
              <a:t>Hungary's</a:t>
            </a:r>
            <a:r>
              <a:rPr lang="hu-HU" dirty="0"/>
              <a:t> </a:t>
            </a:r>
            <a:r>
              <a:rPr lang="hu-HU" dirty="0" err="1"/>
              <a:t>population</a:t>
            </a:r>
            <a:r>
              <a:rPr lang="hu-HU" dirty="0"/>
              <a:t> </a:t>
            </a:r>
            <a:r>
              <a:rPr lang="hu-HU" dirty="0" err="1"/>
              <a:t>based</a:t>
            </a:r>
            <a:r>
              <a:rPr lang="hu-HU" dirty="0"/>
              <a:t> </a:t>
            </a:r>
            <a:r>
              <a:rPr lang="hu-HU" dirty="0" err="1"/>
              <a:t>on</a:t>
            </a:r>
            <a:r>
              <a:rPr lang="hu-HU" dirty="0"/>
              <a:t> </a:t>
            </a:r>
            <a:r>
              <a:rPr lang="hu-HU" dirty="0" err="1"/>
              <a:t>postal-code</a:t>
            </a:r>
            <a:r>
              <a:rPr lang="hu-HU" dirty="0"/>
              <a:t> </a:t>
            </a:r>
            <a:r>
              <a:rPr lang="hu-HU" dirty="0" err="1"/>
              <a:t>level</a:t>
            </a:r>
            <a:r>
              <a:rPr lang="hu-HU" dirty="0"/>
              <a:t> </a:t>
            </a:r>
            <a:r>
              <a:rPr lang="hu-HU" dirty="0" err="1"/>
              <a:t>demographic</a:t>
            </a:r>
            <a:r>
              <a:rPr lang="hu-HU" dirty="0"/>
              <a:t> </a:t>
            </a:r>
            <a:r>
              <a:rPr lang="hu-HU" dirty="0" err="1"/>
              <a:t>data</a:t>
            </a:r>
            <a:r>
              <a:rPr lang="hu-HU" dirty="0"/>
              <a:t>, </a:t>
            </a:r>
            <a:r>
              <a:rPr lang="hu-HU" dirty="0" err="1"/>
              <a:t>which</a:t>
            </a:r>
            <a:r>
              <a:rPr lang="hu-HU" dirty="0"/>
              <a:t> </a:t>
            </a:r>
            <a:r>
              <a:rPr lang="hu-HU" dirty="0" err="1"/>
              <a:t>were</a:t>
            </a:r>
            <a:r>
              <a:rPr lang="hu-HU" dirty="0"/>
              <a:t> </a:t>
            </a:r>
            <a:r>
              <a:rPr lang="hu-HU" dirty="0" err="1"/>
              <a:t>visualised</a:t>
            </a:r>
            <a:r>
              <a:rPr lang="hu-HU" dirty="0"/>
              <a:t> </a:t>
            </a:r>
            <a:r>
              <a:rPr lang="hu-HU" dirty="0" err="1"/>
              <a:t>with</a:t>
            </a:r>
            <a:r>
              <a:rPr lang="hu-HU" dirty="0"/>
              <a:t> </a:t>
            </a:r>
            <a:r>
              <a:rPr lang="hu-HU" dirty="0" err="1"/>
              <a:t>isobands</a:t>
            </a:r>
            <a:r>
              <a:rPr lang="hu-HU" dirty="0"/>
              <a:t>. The </a:t>
            </a:r>
            <a:r>
              <a:rPr lang="hu-HU" dirty="0" err="1"/>
              <a:t>model</a:t>
            </a:r>
            <a:r>
              <a:rPr lang="hu-HU" dirty="0"/>
              <a:t> </a:t>
            </a:r>
            <a:r>
              <a:rPr lang="hu-HU" dirty="0" err="1"/>
              <a:t>was</a:t>
            </a:r>
            <a:r>
              <a:rPr lang="hu-HU" dirty="0"/>
              <a:t> </a:t>
            </a:r>
            <a:r>
              <a:rPr lang="hu-HU" dirty="0" err="1"/>
              <a:t>visually</a:t>
            </a:r>
            <a:r>
              <a:rPr lang="hu-HU" dirty="0"/>
              <a:t> </a:t>
            </a:r>
            <a:r>
              <a:rPr lang="hu-HU" dirty="0" err="1"/>
              <a:t>cross-referenced</a:t>
            </a:r>
            <a:r>
              <a:rPr lang="hu-HU" dirty="0"/>
              <a:t> </a:t>
            </a:r>
            <a:r>
              <a:rPr lang="hu-HU" dirty="0" err="1"/>
              <a:t>with</a:t>
            </a:r>
            <a:r>
              <a:rPr lang="hu-HU" dirty="0"/>
              <a:t> a 100 </a:t>
            </a:r>
            <a:r>
              <a:rPr lang="hu-HU" dirty="0" err="1"/>
              <a:t>meter</a:t>
            </a:r>
            <a:r>
              <a:rPr lang="hu-HU" dirty="0"/>
              <a:t> </a:t>
            </a:r>
            <a:r>
              <a:rPr lang="hu-HU" dirty="0" err="1"/>
              <a:t>resolution</a:t>
            </a:r>
            <a:r>
              <a:rPr lang="hu-HU" dirty="0"/>
              <a:t> </a:t>
            </a:r>
            <a:r>
              <a:rPr lang="hu-HU" dirty="0" err="1"/>
              <a:t>raster</a:t>
            </a:r>
            <a:r>
              <a:rPr lang="hu-HU" dirty="0"/>
              <a:t> (</a:t>
            </a:r>
            <a:r>
              <a:rPr lang="hu-HU" dirty="0" err="1"/>
              <a:t>GeoTiff</a:t>
            </a:r>
            <a:r>
              <a:rPr lang="hu-HU" dirty="0"/>
              <a:t>) </a:t>
            </a:r>
            <a:r>
              <a:rPr lang="hu-HU" dirty="0" err="1"/>
              <a:t>population</a:t>
            </a:r>
            <a:r>
              <a:rPr lang="hu-HU" dirty="0"/>
              <a:t> </a:t>
            </a:r>
            <a:r>
              <a:rPr lang="hu-HU" dirty="0" err="1"/>
              <a:t>density</a:t>
            </a:r>
            <a:r>
              <a:rPr lang="hu-HU" dirty="0"/>
              <a:t> </a:t>
            </a:r>
            <a:r>
              <a:rPr lang="hu-HU" dirty="0" err="1"/>
              <a:t>dataset</a:t>
            </a:r>
            <a:r>
              <a:rPr lang="hu-HU" dirty="0"/>
              <a:t>.</a:t>
            </a:r>
            <a:br>
              <a:rPr lang="hu-HU" dirty="0"/>
            </a:br>
            <a:r>
              <a:rPr lang="hu-HU" b="1" dirty="0"/>
              <a:t>Multi-</a:t>
            </a:r>
            <a:r>
              <a:rPr lang="hu-HU" b="1" dirty="0" err="1"/>
              <a:t>criteria</a:t>
            </a:r>
            <a:r>
              <a:rPr lang="hu-HU" b="1" dirty="0"/>
              <a:t> decision </a:t>
            </a:r>
            <a:r>
              <a:rPr lang="hu-HU" b="1" dirty="0" err="1"/>
              <a:t>analysis</a:t>
            </a:r>
            <a:r>
              <a:rPr lang="hu-HU" b="1" dirty="0"/>
              <a:t> (MCDA):</a:t>
            </a:r>
            <a:r>
              <a:rPr lang="hu-HU" dirty="0"/>
              <a:t> </a:t>
            </a:r>
            <a:r>
              <a:rPr lang="hu-HU" dirty="0" err="1"/>
              <a:t>We</a:t>
            </a:r>
            <a:r>
              <a:rPr lang="hu-HU" dirty="0"/>
              <a:t> </a:t>
            </a:r>
            <a:r>
              <a:rPr lang="hu-HU" dirty="0" err="1"/>
              <a:t>selected</a:t>
            </a:r>
            <a:r>
              <a:rPr lang="hu-HU" dirty="0"/>
              <a:t> </a:t>
            </a:r>
            <a:r>
              <a:rPr lang="hu-HU" dirty="0" err="1"/>
              <a:t>the</a:t>
            </a:r>
            <a:r>
              <a:rPr lang="hu-HU" dirty="0"/>
              <a:t> most </a:t>
            </a:r>
            <a:r>
              <a:rPr lang="hu-HU" dirty="0" err="1"/>
              <a:t>suitable</a:t>
            </a:r>
            <a:r>
              <a:rPr lang="hu-HU" dirty="0"/>
              <a:t> </a:t>
            </a:r>
            <a:r>
              <a:rPr lang="hu-HU" dirty="0" err="1"/>
              <a:t>drone</a:t>
            </a:r>
            <a:r>
              <a:rPr lang="hu-HU" dirty="0"/>
              <a:t> </a:t>
            </a:r>
            <a:r>
              <a:rPr lang="hu-HU" dirty="0" err="1"/>
              <a:t>for</a:t>
            </a:r>
            <a:r>
              <a:rPr lang="hu-HU" dirty="0"/>
              <a:t> </a:t>
            </a:r>
            <a:r>
              <a:rPr lang="hu-HU" dirty="0" err="1"/>
              <a:t>the</a:t>
            </a:r>
            <a:r>
              <a:rPr lang="hu-HU" dirty="0"/>
              <a:t> </a:t>
            </a:r>
            <a:r>
              <a:rPr lang="hu-HU" dirty="0" err="1"/>
              <a:t>task</a:t>
            </a:r>
            <a:r>
              <a:rPr lang="hu-HU" dirty="0"/>
              <a:t> </a:t>
            </a:r>
            <a:r>
              <a:rPr lang="hu-HU" dirty="0" err="1"/>
              <a:t>using</a:t>
            </a:r>
            <a:r>
              <a:rPr lang="hu-HU" dirty="0"/>
              <a:t> a </a:t>
            </a:r>
            <a:r>
              <a:rPr lang="hu-HU" dirty="0" err="1"/>
              <a:t>weighted</a:t>
            </a:r>
            <a:r>
              <a:rPr lang="hu-HU" dirty="0"/>
              <a:t> </a:t>
            </a:r>
            <a:r>
              <a:rPr lang="hu-HU" dirty="0" err="1"/>
              <a:t>scoring</a:t>
            </a:r>
            <a:r>
              <a:rPr lang="hu-HU" dirty="0"/>
              <a:t> </a:t>
            </a:r>
            <a:r>
              <a:rPr lang="hu-HU" dirty="0" err="1"/>
              <a:t>system</a:t>
            </a:r>
            <a:r>
              <a:rPr lang="hu-HU" dirty="0"/>
              <a:t>. The </a:t>
            </a:r>
            <a:r>
              <a:rPr lang="hu-HU" dirty="0" err="1"/>
              <a:t>model</a:t>
            </a:r>
            <a:r>
              <a:rPr lang="hu-HU" dirty="0"/>
              <a:t> </a:t>
            </a:r>
            <a:r>
              <a:rPr lang="hu-HU" dirty="0" err="1"/>
              <a:t>considered</a:t>
            </a:r>
            <a:r>
              <a:rPr lang="hu-HU" dirty="0"/>
              <a:t> top </a:t>
            </a:r>
            <a:r>
              <a:rPr lang="hu-HU" dirty="0" err="1"/>
              <a:t>speed</a:t>
            </a:r>
            <a:r>
              <a:rPr lang="hu-HU" dirty="0"/>
              <a:t> (50%), </a:t>
            </a:r>
            <a:r>
              <a:rPr lang="hu-HU" dirty="0" err="1"/>
              <a:t>operational</a:t>
            </a:r>
            <a:r>
              <a:rPr lang="hu-HU" dirty="0"/>
              <a:t> </a:t>
            </a:r>
            <a:r>
              <a:rPr lang="hu-HU" dirty="0" err="1"/>
              <a:t>range</a:t>
            </a:r>
            <a:r>
              <a:rPr lang="hu-HU" dirty="0"/>
              <a:t> (20%), maximum </a:t>
            </a:r>
            <a:r>
              <a:rPr lang="hu-HU" dirty="0" err="1"/>
              <a:t>take-off</a:t>
            </a:r>
            <a:r>
              <a:rPr lang="hu-HU" dirty="0"/>
              <a:t> </a:t>
            </a:r>
            <a:r>
              <a:rPr lang="hu-HU" dirty="0" err="1"/>
              <a:t>weight</a:t>
            </a:r>
            <a:r>
              <a:rPr lang="hu-HU" dirty="0"/>
              <a:t> – </a:t>
            </a:r>
            <a:r>
              <a:rPr lang="hu-HU" dirty="0" err="1"/>
              <a:t>safety</a:t>
            </a:r>
            <a:r>
              <a:rPr lang="hu-HU" dirty="0"/>
              <a:t> and </a:t>
            </a:r>
            <a:r>
              <a:rPr lang="hu-HU" dirty="0" err="1"/>
              <a:t>handling</a:t>
            </a:r>
            <a:r>
              <a:rPr lang="hu-HU" dirty="0"/>
              <a:t> – (</a:t>
            </a:r>
            <a:r>
              <a:rPr lang="hu-HU" dirty="0" err="1"/>
              <a:t>inverted</a:t>
            </a:r>
            <a:r>
              <a:rPr lang="hu-HU" dirty="0"/>
              <a:t> 20%), and </a:t>
            </a:r>
            <a:r>
              <a:rPr lang="hu-HU" dirty="0" err="1"/>
              <a:t>payload</a:t>
            </a:r>
            <a:r>
              <a:rPr lang="hu-HU" dirty="0"/>
              <a:t> </a:t>
            </a:r>
            <a:r>
              <a:rPr lang="hu-HU" dirty="0" err="1"/>
              <a:t>capacity</a:t>
            </a:r>
            <a:r>
              <a:rPr lang="hu-HU" dirty="0"/>
              <a:t> (10%).</a:t>
            </a:r>
            <a:br>
              <a:rPr lang="hu-HU" dirty="0"/>
            </a:br>
            <a:r>
              <a:rPr lang="hu-HU" b="1" dirty="0"/>
              <a:t>Network </a:t>
            </a:r>
            <a:r>
              <a:rPr lang="hu-HU" b="1" dirty="0" err="1"/>
              <a:t>optimisation</a:t>
            </a:r>
            <a:r>
              <a:rPr lang="hu-HU" b="1" dirty="0"/>
              <a:t>:</a:t>
            </a:r>
            <a:r>
              <a:rPr lang="hu-HU" dirty="0"/>
              <a:t> </a:t>
            </a:r>
            <a:r>
              <a:rPr lang="hu-HU" dirty="0" err="1"/>
              <a:t>We</a:t>
            </a:r>
            <a:r>
              <a:rPr lang="hu-HU" dirty="0"/>
              <a:t> </a:t>
            </a:r>
            <a:r>
              <a:rPr lang="hu-HU" dirty="0" err="1"/>
              <a:t>approached</a:t>
            </a:r>
            <a:r>
              <a:rPr lang="hu-HU" dirty="0"/>
              <a:t> </a:t>
            </a:r>
            <a:r>
              <a:rPr lang="hu-HU" dirty="0" err="1"/>
              <a:t>the</a:t>
            </a:r>
            <a:r>
              <a:rPr lang="hu-HU" dirty="0"/>
              <a:t> </a:t>
            </a:r>
            <a:r>
              <a:rPr lang="hu-HU" dirty="0" err="1"/>
              <a:t>placement</a:t>
            </a:r>
            <a:r>
              <a:rPr lang="hu-HU" dirty="0"/>
              <a:t> of </a:t>
            </a:r>
            <a:r>
              <a:rPr lang="hu-HU" dirty="0" err="1"/>
              <a:t>the</a:t>
            </a:r>
            <a:r>
              <a:rPr lang="hu-HU" dirty="0"/>
              <a:t> </a:t>
            </a:r>
            <a:r>
              <a:rPr lang="hu-HU" dirty="0" err="1"/>
              <a:t>drone</a:t>
            </a:r>
            <a:r>
              <a:rPr lang="hu-HU" dirty="0"/>
              <a:t> </a:t>
            </a:r>
            <a:r>
              <a:rPr lang="hu-HU" dirty="0" err="1"/>
              <a:t>bases</a:t>
            </a:r>
            <a:r>
              <a:rPr lang="hu-HU" dirty="0"/>
              <a:t> </a:t>
            </a:r>
            <a:r>
              <a:rPr lang="hu-HU" dirty="0" err="1"/>
              <a:t>as</a:t>
            </a:r>
            <a:r>
              <a:rPr lang="hu-HU" dirty="0"/>
              <a:t> a </a:t>
            </a:r>
            <a:r>
              <a:rPr lang="hu-HU" dirty="0" err="1"/>
              <a:t>facility</a:t>
            </a:r>
            <a:r>
              <a:rPr lang="hu-HU" dirty="0"/>
              <a:t> </a:t>
            </a:r>
            <a:r>
              <a:rPr lang="hu-HU" dirty="0" err="1"/>
              <a:t>location</a:t>
            </a:r>
            <a:r>
              <a:rPr lang="hu-HU" dirty="0"/>
              <a:t> </a:t>
            </a:r>
            <a:r>
              <a:rPr lang="hu-HU" dirty="0" err="1"/>
              <a:t>problem</a:t>
            </a:r>
            <a:r>
              <a:rPr lang="hu-HU" dirty="0"/>
              <a:t>. </a:t>
            </a:r>
            <a:r>
              <a:rPr lang="hu-HU" dirty="0" err="1"/>
              <a:t>By</a:t>
            </a:r>
            <a:r>
              <a:rPr lang="hu-HU" dirty="0"/>
              <a:t> </a:t>
            </a:r>
            <a:r>
              <a:rPr lang="hu-HU" dirty="0" err="1"/>
              <a:t>utilising</a:t>
            </a:r>
            <a:r>
              <a:rPr lang="hu-HU" dirty="0"/>
              <a:t> a </a:t>
            </a:r>
            <a:r>
              <a:rPr lang="hu-HU" dirty="0" err="1"/>
              <a:t>capacity-restrained</a:t>
            </a:r>
            <a:r>
              <a:rPr lang="hu-HU" dirty="0"/>
              <a:t> </a:t>
            </a:r>
            <a:r>
              <a:rPr lang="hu-HU" dirty="0" err="1"/>
              <a:t>greedy</a:t>
            </a:r>
            <a:r>
              <a:rPr lang="hu-HU" dirty="0"/>
              <a:t> </a:t>
            </a:r>
            <a:r>
              <a:rPr lang="hu-HU" dirty="0" err="1"/>
              <a:t>algorithm</a:t>
            </a:r>
            <a:r>
              <a:rPr lang="hu-HU" dirty="0"/>
              <a:t> </a:t>
            </a:r>
            <a:r>
              <a:rPr lang="hu-HU" dirty="0" err="1"/>
              <a:t>to</a:t>
            </a:r>
            <a:r>
              <a:rPr lang="hu-HU" dirty="0"/>
              <a:t> minimise </a:t>
            </a:r>
            <a:r>
              <a:rPr lang="hu-HU" dirty="0" err="1"/>
              <a:t>the</a:t>
            </a:r>
            <a:r>
              <a:rPr lang="hu-HU" dirty="0"/>
              <a:t> </a:t>
            </a:r>
            <a:r>
              <a:rPr lang="hu-HU" dirty="0" err="1"/>
              <a:t>number</a:t>
            </a:r>
            <a:r>
              <a:rPr lang="hu-HU" dirty="0"/>
              <a:t> of </a:t>
            </a:r>
            <a:r>
              <a:rPr lang="hu-HU" dirty="0" err="1"/>
              <a:t>required</a:t>
            </a:r>
            <a:r>
              <a:rPr lang="hu-HU" dirty="0"/>
              <a:t> </a:t>
            </a:r>
            <a:r>
              <a:rPr lang="hu-HU" dirty="0" err="1"/>
              <a:t>drone</a:t>
            </a:r>
            <a:r>
              <a:rPr lang="hu-HU" dirty="0"/>
              <a:t> </a:t>
            </a:r>
            <a:r>
              <a:rPr lang="hu-HU" dirty="0" err="1"/>
              <a:t>bases</a:t>
            </a:r>
            <a:r>
              <a:rPr lang="hu-HU" dirty="0"/>
              <a:t>, </a:t>
            </a:r>
            <a:r>
              <a:rPr lang="hu-HU" dirty="0" err="1"/>
              <a:t>based</a:t>
            </a:r>
            <a:r>
              <a:rPr lang="hu-HU" dirty="0"/>
              <a:t> </a:t>
            </a:r>
            <a:r>
              <a:rPr lang="hu-HU" dirty="0" err="1"/>
              <a:t>on</a:t>
            </a:r>
            <a:r>
              <a:rPr lang="hu-HU" dirty="0"/>
              <a:t> </a:t>
            </a:r>
            <a:r>
              <a:rPr lang="hu-HU" dirty="0" err="1"/>
              <a:t>the</a:t>
            </a:r>
            <a:r>
              <a:rPr lang="hu-HU" dirty="0"/>
              <a:t> </a:t>
            </a:r>
            <a:r>
              <a:rPr lang="hu-HU" dirty="0" err="1"/>
              <a:t>population-weighted</a:t>
            </a:r>
            <a:r>
              <a:rPr lang="hu-HU" dirty="0"/>
              <a:t> </a:t>
            </a:r>
            <a:r>
              <a:rPr lang="hu-HU" dirty="0" err="1"/>
              <a:t>distribution</a:t>
            </a:r>
            <a:r>
              <a:rPr lang="hu-HU" dirty="0"/>
              <a:t> of an </a:t>
            </a:r>
            <a:r>
              <a:rPr lang="hu-HU" dirty="0" err="1"/>
              <a:t>estimated</a:t>
            </a:r>
            <a:r>
              <a:rPr lang="hu-HU" dirty="0"/>
              <a:t> 63 000 </a:t>
            </a:r>
            <a:r>
              <a:rPr lang="hu-HU" dirty="0" err="1"/>
              <a:t>annual</a:t>
            </a:r>
            <a:r>
              <a:rPr lang="hu-HU" dirty="0"/>
              <a:t> </a:t>
            </a:r>
            <a:r>
              <a:rPr lang="hu-HU" dirty="0" err="1"/>
              <a:t>domestic</a:t>
            </a:r>
            <a:r>
              <a:rPr lang="hu-HU" dirty="0"/>
              <a:t> </a:t>
            </a:r>
            <a:r>
              <a:rPr lang="hu-HU" dirty="0" err="1"/>
              <a:t>cases</a:t>
            </a:r>
            <a:r>
              <a:rPr lang="hu-HU" dirty="0"/>
              <a:t>.</a:t>
            </a:r>
            <a:br>
              <a:rPr lang="hu-HU" dirty="0"/>
            </a:br>
            <a:r>
              <a:rPr lang="hu-HU" b="1" dirty="0" err="1"/>
              <a:t>Interactive</a:t>
            </a:r>
            <a:r>
              <a:rPr lang="hu-HU" b="1" dirty="0"/>
              <a:t> </a:t>
            </a:r>
            <a:r>
              <a:rPr lang="hu-HU" b="1" dirty="0" err="1"/>
              <a:t>simulation</a:t>
            </a:r>
            <a:r>
              <a:rPr lang="hu-HU" b="1" dirty="0"/>
              <a:t>:</a:t>
            </a:r>
            <a:r>
              <a:rPr lang="hu-HU" dirty="0"/>
              <a:t> </a:t>
            </a:r>
            <a:r>
              <a:rPr lang="hu-HU" dirty="0" err="1"/>
              <a:t>We</a:t>
            </a:r>
            <a:r>
              <a:rPr lang="hu-HU" dirty="0"/>
              <a:t> </a:t>
            </a:r>
            <a:r>
              <a:rPr lang="hu-HU" dirty="0" err="1"/>
              <a:t>developed</a:t>
            </a:r>
            <a:r>
              <a:rPr lang="hu-HU" dirty="0"/>
              <a:t> a web-</a:t>
            </a:r>
            <a:r>
              <a:rPr lang="hu-HU" dirty="0" err="1"/>
              <a:t>based</a:t>
            </a:r>
            <a:r>
              <a:rPr lang="hu-HU" dirty="0"/>
              <a:t> map-</a:t>
            </a:r>
            <a:r>
              <a:rPr lang="hu-HU" dirty="0" err="1"/>
              <a:t>driven</a:t>
            </a:r>
            <a:r>
              <a:rPr lang="hu-HU" dirty="0"/>
              <a:t> decision </a:t>
            </a:r>
            <a:r>
              <a:rPr lang="hu-HU" dirty="0" err="1"/>
              <a:t>support</a:t>
            </a:r>
            <a:r>
              <a:rPr lang="hu-HU" dirty="0"/>
              <a:t> </a:t>
            </a:r>
            <a:r>
              <a:rPr lang="hu-HU" dirty="0" err="1"/>
              <a:t>system</a:t>
            </a:r>
            <a:r>
              <a:rPr lang="hu-HU" dirty="0"/>
              <a:t> (</a:t>
            </a:r>
            <a:r>
              <a:rPr lang="hu-HU" dirty="0" err="1"/>
              <a:t>dashboard</a:t>
            </a:r>
            <a:r>
              <a:rPr lang="hu-HU" dirty="0"/>
              <a:t>) </a:t>
            </a:r>
            <a:r>
              <a:rPr lang="hu-HU" dirty="0" err="1"/>
              <a:t>that</a:t>
            </a:r>
            <a:r>
              <a:rPr lang="hu-HU" dirty="0"/>
              <a:t> </a:t>
            </a:r>
            <a:r>
              <a:rPr lang="hu-HU" dirty="0" err="1"/>
              <a:t>recalculates</a:t>
            </a:r>
            <a:r>
              <a:rPr lang="hu-HU" dirty="0"/>
              <a:t> </a:t>
            </a:r>
            <a:r>
              <a:rPr lang="hu-HU" dirty="0" err="1"/>
              <a:t>network</a:t>
            </a:r>
            <a:r>
              <a:rPr lang="hu-HU" dirty="0"/>
              <a:t> </a:t>
            </a:r>
            <a:r>
              <a:rPr lang="hu-HU" dirty="0" err="1"/>
              <a:t>coverage</a:t>
            </a:r>
            <a:r>
              <a:rPr lang="hu-HU" dirty="0"/>
              <a:t> in </a:t>
            </a:r>
            <a:r>
              <a:rPr lang="hu-HU" dirty="0" err="1"/>
              <a:t>real-time</a:t>
            </a:r>
            <a:r>
              <a:rPr lang="hu-HU" dirty="0"/>
              <a:t> </a:t>
            </a:r>
            <a:r>
              <a:rPr lang="hu-HU" dirty="0" err="1"/>
              <a:t>based</a:t>
            </a:r>
            <a:r>
              <a:rPr lang="hu-HU" dirty="0"/>
              <a:t> </a:t>
            </a:r>
            <a:r>
              <a:rPr lang="hu-HU" dirty="0" err="1"/>
              <a:t>on</a:t>
            </a:r>
            <a:r>
              <a:rPr lang="hu-HU" dirty="0"/>
              <a:t> input </a:t>
            </a:r>
            <a:r>
              <a:rPr lang="hu-HU" dirty="0" err="1"/>
              <a:t>parameters</a:t>
            </a:r>
            <a:r>
              <a:rPr lang="hu-HU" dirty="0"/>
              <a:t> (</a:t>
            </a:r>
            <a:r>
              <a:rPr lang="hu-HU" dirty="0" err="1"/>
              <a:t>operational</a:t>
            </a:r>
            <a:r>
              <a:rPr lang="hu-HU" dirty="0"/>
              <a:t> </a:t>
            </a:r>
            <a:r>
              <a:rPr lang="hu-HU" dirty="0" err="1"/>
              <a:t>range</a:t>
            </a:r>
            <a:r>
              <a:rPr lang="hu-HU" dirty="0"/>
              <a:t>, </a:t>
            </a:r>
            <a:r>
              <a:rPr lang="hu-HU" dirty="0" err="1"/>
              <a:t>drone</a:t>
            </a:r>
            <a:r>
              <a:rPr lang="hu-HU" dirty="0"/>
              <a:t> and </a:t>
            </a:r>
            <a:r>
              <a:rPr lang="hu-HU" dirty="0" err="1"/>
              <a:t>base</a:t>
            </a:r>
            <a:r>
              <a:rPr lang="hu-HU" dirty="0"/>
              <a:t> </a:t>
            </a:r>
            <a:r>
              <a:rPr lang="hu-HU" dirty="0" err="1"/>
              <a:t>capacity</a:t>
            </a:r>
            <a:r>
              <a:rPr lang="hu-HU" dirty="0"/>
              <a:t>).</a:t>
            </a:r>
            <a:endParaRPr lang="hu-HU" sz="2400" dirty="0"/>
          </a:p>
        </p:txBody>
      </p:sp>
      <p:pic>
        <p:nvPicPr>
          <p:cNvPr id="59" name="Picture 58">
            <a:extLst>
              <a:ext uri="{FF2B5EF4-FFF2-40B4-BE49-F238E27FC236}">
                <a16:creationId xmlns:a16="http://schemas.microsoft.com/office/drawing/2014/main" id="{4D35F4FE-4C26-A39E-AD24-C150FD1C2BA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692650" y="21175958"/>
            <a:ext cx="7712241" cy="4507081"/>
          </a:xfrm>
          <a:prstGeom prst="rect">
            <a:avLst/>
          </a:prstGeom>
        </p:spPr>
      </p:pic>
      <p:pic>
        <p:nvPicPr>
          <p:cNvPr id="61" name="Picture 60">
            <a:extLst>
              <a:ext uri="{FF2B5EF4-FFF2-40B4-BE49-F238E27FC236}">
                <a16:creationId xmlns:a16="http://schemas.microsoft.com/office/drawing/2014/main" id="{C0F58D32-F277-BD51-E6B6-DD0CD1957C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04891" y="21159544"/>
            <a:ext cx="7712242" cy="4539910"/>
          </a:xfrm>
          <a:prstGeom prst="rect">
            <a:avLst/>
          </a:prstGeom>
        </p:spPr>
      </p:pic>
      <p:pic>
        <p:nvPicPr>
          <p:cNvPr id="63" name="Picture 62">
            <a:extLst>
              <a:ext uri="{FF2B5EF4-FFF2-40B4-BE49-F238E27FC236}">
                <a16:creationId xmlns:a16="http://schemas.microsoft.com/office/drawing/2014/main" id="{6EDEEB76-A5B3-6C7A-25FC-B431A9E768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2843" y="21151047"/>
            <a:ext cx="7609807" cy="4519021"/>
          </a:xfrm>
          <a:prstGeom prst="rect">
            <a:avLst/>
          </a:prstGeom>
        </p:spPr>
      </p:pic>
      <p:sp>
        <p:nvSpPr>
          <p:cNvPr id="66" name="TextBox 65">
            <a:extLst>
              <a:ext uri="{FF2B5EF4-FFF2-40B4-BE49-F238E27FC236}">
                <a16:creationId xmlns:a16="http://schemas.microsoft.com/office/drawing/2014/main" id="{584987C4-D766-E6A9-DA5D-F8BAD6AC26B8}"/>
              </a:ext>
            </a:extLst>
          </p:cNvPr>
          <p:cNvSpPr txBox="1"/>
          <p:nvPr/>
        </p:nvSpPr>
        <p:spPr>
          <a:xfrm>
            <a:off x="1092328" y="20409643"/>
            <a:ext cx="11359640" cy="784830"/>
          </a:xfrm>
          <a:prstGeom prst="rect">
            <a:avLst/>
          </a:prstGeom>
          <a:noFill/>
        </p:spPr>
        <p:txBody>
          <a:bodyPr wrap="square" rtlCol="0">
            <a:spAutoFit/>
          </a:bodyPr>
          <a:lstStyle/>
          <a:p>
            <a:pPr algn="ctr"/>
            <a:r>
              <a:rPr lang="hu-HU" sz="4500" b="1" dirty="0"/>
              <a:t>Eredmények</a:t>
            </a:r>
          </a:p>
        </p:txBody>
      </p:sp>
      <p:sp>
        <p:nvSpPr>
          <p:cNvPr id="68" name="TextBox 67">
            <a:extLst>
              <a:ext uri="{FF2B5EF4-FFF2-40B4-BE49-F238E27FC236}">
                <a16:creationId xmlns:a16="http://schemas.microsoft.com/office/drawing/2014/main" id="{BDF557F3-FA0A-B260-D94D-F7B0B569D7DF}"/>
              </a:ext>
            </a:extLst>
          </p:cNvPr>
          <p:cNvSpPr txBox="1"/>
          <p:nvPr/>
        </p:nvSpPr>
        <p:spPr>
          <a:xfrm>
            <a:off x="12757492" y="20409643"/>
            <a:ext cx="11359640" cy="784830"/>
          </a:xfrm>
          <a:prstGeom prst="rect">
            <a:avLst/>
          </a:prstGeom>
          <a:noFill/>
        </p:spPr>
        <p:txBody>
          <a:bodyPr wrap="square" rtlCol="0">
            <a:spAutoFit/>
          </a:bodyPr>
          <a:lstStyle/>
          <a:p>
            <a:pPr algn="ctr"/>
            <a:r>
              <a:rPr lang="hu-HU" sz="4500" b="1" dirty="0" err="1"/>
              <a:t>Results</a:t>
            </a:r>
            <a:endParaRPr lang="hu-HU" sz="4500" b="1" dirty="0"/>
          </a:p>
        </p:txBody>
      </p:sp>
      <p:sp>
        <p:nvSpPr>
          <p:cNvPr id="74" name="TextBox 73">
            <a:extLst>
              <a:ext uri="{FF2B5EF4-FFF2-40B4-BE49-F238E27FC236}">
                <a16:creationId xmlns:a16="http://schemas.microsoft.com/office/drawing/2014/main" id="{D1D09206-8B4E-782A-B45A-4AB7E622AF37}"/>
              </a:ext>
            </a:extLst>
          </p:cNvPr>
          <p:cNvSpPr txBox="1"/>
          <p:nvPr/>
        </p:nvSpPr>
        <p:spPr>
          <a:xfrm>
            <a:off x="1092328" y="26166325"/>
            <a:ext cx="11359640" cy="784830"/>
          </a:xfrm>
          <a:prstGeom prst="rect">
            <a:avLst/>
          </a:prstGeom>
          <a:noFill/>
        </p:spPr>
        <p:txBody>
          <a:bodyPr wrap="square" rtlCol="0">
            <a:spAutoFit/>
          </a:bodyPr>
          <a:lstStyle/>
          <a:p>
            <a:pPr algn="ctr"/>
            <a:r>
              <a:rPr lang="hu-HU" sz="4500" b="1" dirty="0"/>
              <a:t>Konklúzió</a:t>
            </a:r>
          </a:p>
        </p:txBody>
      </p:sp>
      <p:sp>
        <p:nvSpPr>
          <p:cNvPr id="76" name="TextBox 75">
            <a:extLst>
              <a:ext uri="{FF2B5EF4-FFF2-40B4-BE49-F238E27FC236}">
                <a16:creationId xmlns:a16="http://schemas.microsoft.com/office/drawing/2014/main" id="{952DFDAB-C560-861F-91BD-B190527903DC}"/>
              </a:ext>
            </a:extLst>
          </p:cNvPr>
          <p:cNvSpPr txBox="1"/>
          <p:nvPr/>
        </p:nvSpPr>
        <p:spPr>
          <a:xfrm>
            <a:off x="12757492" y="26166325"/>
            <a:ext cx="11359640" cy="784830"/>
          </a:xfrm>
          <a:prstGeom prst="rect">
            <a:avLst/>
          </a:prstGeom>
          <a:noFill/>
        </p:spPr>
        <p:txBody>
          <a:bodyPr wrap="square" rtlCol="0">
            <a:spAutoFit/>
          </a:bodyPr>
          <a:lstStyle/>
          <a:p>
            <a:pPr algn="ctr"/>
            <a:r>
              <a:rPr lang="hu-HU" sz="4500" b="1" dirty="0" err="1"/>
              <a:t>Conclusion</a:t>
            </a:r>
            <a:endParaRPr lang="hu-HU" sz="4500" b="1" dirty="0"/>
          </a:p>
        </p:txBody>
      </p:sp>
      <p:pic>
        <p:nvPicPr>
          <p:cNvPr id="78" name="Picture 77">
            <a:extLst>
              <a:ext uri="{FF2B5EF4-FFF2-40B4-BE49-F238E27FC236}">
                <a16:creationId xmlns:a16="http://schemas.microsoft.com/office/drawing/2014/main" id="{CC7E3213-FE0A-1AB3-93C0-40DDA52FCA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32721" y="26882406"/>
            <a:ext cx="9144019" cy="5486411"/>
          </a:xfrm>
          <a:prstGeom prst="rect">
            <a:avLst/>
          </a:prstGeom>
        </p:spPr>
      </p:pic>
      <p:sp>
        <p:nvSpPr>
          <p:cNvPr id="80" name="TextBox 79">
            <a:extLst>
              <a:ext uri="{FF2B5EF4-FFF2-40B4-BE49-F238E27FC236}">
                <a16:creationId xmlns:a16="http://schemas.microsoft.com/office/drawing/2014/main" id="{7CC296BF-BEE7-3B9C-B6D5-4D8135A66C5B}"/>
              </a:ext>
            </a:extLst>
          </p:cNvPr>
          <p:cNvSpPr txBox="1"/>
          <p:nvPr/>
        </p:nvSpPr>
        <p:spPr>
          <a:xfrm>
            <a:off x="1095253" y="26949276"/>
            <a:ext cx="6937468" cy="5632311"/>
          </a:xfrm>
          <a:prstGeom prst="rect">
            <a:avLst/>
          </a:prstGeom>
          <a:noFill/>
        </p:spPr>
        <p:txBody>
          <a:bodyPr wrap="square" rtlCol="0">
            <a:spAutoFit/>
          </a:bodyPr>
          <a:lstStyle/>
          <a:p>
            <a:pPr algn="just"/>
            <a:r>
              <a:rPr lang="hu-HU" sz="2400" b="1" dirty="0"/>
              <a:t>Matematikai optimum:</a:t>
            </a:r>
            <a:r>
              <a:rPr lang="hu-HU" sz="2400" dirty="0"/>
              <a:t> A hálózat optimalizálása során a csökkenő hozadék (</a:t>
            </a:r>
            <a:r>
              <a:rPr lang="hu-HU" sz="2400" dirty="0" err="1"/>
              <a:t>diminishing</a:t>
            </a:r>
            <a:r>
              <a:rPr lang="hu-HU" sz="2400" dirty="0"/>
              <a:t> </a:t>
            </a:r>
            <a:r>
              <a:rPr lang="hu-HU" sz="2400" dirty="0" err="1"/>
              <a:t>returns</a:t>
            </a:r>
            <a:r>
              <a:rPr lang="hu-HU" sz="2400" dirty="0"/>
              <a:t>) elve egyértelműen megmutatkozik a drónok hatótávja és a bázisigény között. Az ideális egyensúlyi pont (</a:t>
            </a:r>
            <a:r>
              <a:rPr lang="hu-HU" sz="2400" dirty="0" err="1"/>
              <a:t>sweet</a:t>
            </a:r>
            <a:r>
              <a:rPr lang="hu-HU" sz="2400" dirty="0"/>
              <a:t> spot) 16 km-es hatótávolságnál található.</a:t>
            </a:r>
          </a:p>
          <a:p>
            <a:pPr algn="just"/>
            <a:r>
              <a:rPr lang="hu-HU" sz="2400" b="1" dirty="0"/>
              <a:t>Infrastrukturális igény: </a:t>
            </a:r>
            <a:r>
              <a:rPr lang="hu-HU" sz="2400" dirty="0"/>
              <a:t>Ezen a ponton az országos AED-kereslet 95%-os lefedéséhez 140 drónbázis telepítése szükséges.</a:t>
            </a:r>
          </a:p>
          <a:p>
            <a:pPr algn="just"/>
            <a:r>
              <a:rPr lang="hu-HU" sz="2400" b="1" dirty="0"/>
              <a:t>Végső verdikt: </a:t>
            </a:r>
            <a:r>
              <a:rPr lang="hu-HU" sz="2400" dirty="0"/>
              <a:t>Egy kisméretű, 16-20 km hatósugarú eszközökre (pl. VTOL technológiára) épülő, </a:t>
            </a:r>
            <a:r>
              <a:rPr lang="hu-HU" sz="2400" dirty="0" err="1"/>
              <a:t>adatvezérelt</a:t>
            </a:r>
            <a:r>
              <a:rPr lang="hu-HU" sz="2400" dirty="0"/>
              <a:t> drónhálózat </a:t>
            </a:r>
            <a:r>
              <a:rPr lang="hu-HU" sz="2400" dirty="0" err="1"/>
              <a:t>logisztikailag</a:t>
            </a:r>
            <a:r>
              <a:rPr lang="hu-HU" sz="2400" dirty="0"/>
              <a:t> és pénzügyileg is kivitelezhető, reális megoldást nyújthat a hazai hirtelen szívmegállások túlélési láncának forradalmasítására.</a:t>
            </a:r>
          </a:p>
        </p:txBody>
      </p:sp>
      <p:sp>
        <p:nvSpPr>
          <p:cNvPr id="82" name="TextBox 81">
            <a:extLst>
              <a:ext uri="{FF2B5EF4-FFF2-40B4-BE49-F238E27FC236}">
                <a16:creationId xmlns:a16="http://schemas.microsoft.com/office/drawing/2014/main" id="{106949C1-DB7A-5055-9B5F-D319F98ACB97}"/>
              </a:ext>
            </a:extLst>
          </p:cNvPr>
          <p:cNvSpPr txBox="1"/>
          <p:nvPr/>
        </p:nvSpPr>
        <p:spPr>
          <a:xfrm>
            <a:off x="17176740" y="26949276"/>
            <a:ext cx="6937468" cy="5632311"/>
          </a:xfrm>
          <a:prstGeom prst="rect">
            <a:avLst/>
          </a:prstGeom>
          <a:noFill/>
        </p:spPr>
        <p:txBody>
          <a:bodyPr wrap="square" rtlCol="0">
            <a:spAutoFit/>
          </a:bodyPr>
          <a:lstStyle/>
          <a:p>
            <a:pPr algn="just"/>
            <a:r>
              <a:rPr lang="en-US" sz="2400" b="1" dirty="0"/>
              <a:t>Mathematical optimum:</a:t>
            </a:r>
            <a:r>
              <a:rPr lang="en-US" sz="2400" dirty="0"/>
              <a:t> During network </a:t>
            </a:r>
            <a:r>
              <a:rPr lang="en-US" sz="2400" dirty="0" err="1"/>
              <a:t>optimisation</a:t>
            </a:r>
            <a:r>
              <a:rPr lang="en-US" sz="2400" dirty="0"/>
              <a:t>, the principle of diminishing returns is clearly evident between the drones' operational range and the required number of bases. The ideal equilibrium point (sweet spot) is located at the 16 km operational radius.</a:t>
            </a:r>
          </a:p>
          <a:p>
            <a:pPr algn="just"/>
            <a:r>
              <a:rPr lang="en-US" sz="2400" b="1" dirty="0"/>
              <a:t>Infrastructure </a:t>
            </a:r>
            <a:r>
              <a:rPr lang="en-US" sz="2400" dirty="0"/>
              <a:t>requirements: At this point, deploying 140 drone bases is enough to achieve 95% coverage of the national AED demand.</a:t>
            </a:r>
          </a:p>
          <a:p>
            <a:pPr algn="just"/>
            <a:r>
              <a:rPr lang="en-US" sz="2400" b="1" dirty="0"/>
              <a:t>Final verdict:</a:t>
            </a:r>
            <a:r>
              <a:rPr lang="en-US" sz="2400" dirty="0"/>
              <a:t> A data-driven drone network based on small-scale UAVs with a 16–20 km operational radius (e.g., VTOL technology) offers a logistically and financially feasible, realistic solution to </a:t>
            </a:r>
            <a:r>
              <a:rPr lang="en-US" sz="2400" dirty="0" err="1"/>
              <a:t>revolutionise</a:t>
            </a:r>
            <a:r>
              <a:rPr lang="en-US" sz="2400" dirty="0"/>
              <a:t> the national chain of survival for sudden cardiac arrests.</a:t>
            </a:r>
            <a:endParaRPr lang="hu-HU" sz="2400" dirty="0"/>
          </a:p>
        </p:txBody>
      </p:sp>
      <p:sp>
        <p:nvSpPr>
          <p:cNvPr id="84" name="TextBox 83">
            <a:extLst>
              <a:ext uri="{FF2B5EF4-FFF2-40B4-BE49-F238E27FC236}">
                <a16:creationId xmlns:a16="http://schemas.microsoft.com/office/drawing/2014/main" id="{8F64FDE8-2EE4-55CB-4029-D047B65AE309}"/>
              </a:ext>
            </a:extLst>
          </p:cNvPr>
          <p:cNvSpPr txBox="1"/>
          <p:nvPr/>
        </p:nvSpPr>
        <p:spPr>
          <a:xfrm>
            <a:off x="1082841" y="32759357"/>
            <a:ext cx="23031367" cy="2246769"/>
          </a:xfrm>
          <a:prstGeom prst="rect">
            <a:avLst/>
          </a:prstGeom>
          <a:noFill/>
        </p:spPr>
        <p:txBody>
          <a:bodyPr wrap="square" rtlCol="0">
            <a:spAutoFit/>
          </a:bodyPr>
          <a:lstStyle/>
          <a:p>
            <a:r>
              <a:rPr lang="hu-HU" sz="2000" b="1" dirty="0"/>
              <a:t>Források / </a:t>
            </a:r>
            <a:r>
              <a:rPr lang="hu-HU" sz="2000" b="1" dirty="0" err="1"/>
              <a:t>Sources</a:t>
            </a:r>
            <a:endParaRPr lang="hu-HU" sz="2000" b="1" dirty="0"/>
          </a:p>
          <a:p>
            <a:pPr marL="342900" indent="-342900">
              <a:buFontTx/>
              <a:buChar char="-"/>
            </a:pPr>
            <a:r>
              <a:rPr lang="hu-HU" sz="2000" dirty="0"/>
              <a:t>Projekt kód </a:t>
            </a:r>
            <a:r>
              <a:rPr lang="hu-HU" sz="2000" dirty="0" err="1"/>
              <a:t>repozitóriuma</a:t>
            </a:r>
            <a:r>
              <a:rPr lang="hu-HU" sz="2000" dirty="0"/>
              <a:t> - </a:t>
            </a:r>
            <a:r>
              <a:rPr lang="en-US" sz="2000" dirty="0"/>
              <a:t>GitHub: </a:t>
            </a:r>
            <a:r>
              <a:rPr lang="en-US" sz="2000" dirty="0">
                <a:hlinkClick r:id="rId8"/>
              </a:rPr>
              <a:t>https://github.com/ARTidas/DroneDefibrillator</a:t>
            </a:r>
            <a:r>
              <a:rPr lang="hu-HU" sz="2000" dirty="0"/>
              <a:t> </a:t>
            </a:r>
          </a:p>
          <a:p>
            <a:pPr marL="342900" indent="-342900">
              <a:buFontTx/>
              <a:buChar char="-"/>
            </a:pPr>
            <a:r>
              <a:rPr lang="hu-HU" sz="2000" dirty="0"/>
              <a:t>Helységlista - KSH:  </a:t>
            </a:r>
            <a:r>
              <a:rPr lang="hu-HU" sz="2000" dirty="0">
                <a:hlinkClick r:id="rId9"/>
              </a:rPr>
              <a:t>https://www.ksh.hu/apps/hntr.egyeb?p_lang=HU&amp;p_sablon=LETOLTES</a:t>
            </a:r>
            <a:endParaRPr lang="hu-HU" sz="2000" dirty="0"/>
          </a:p>
          <a:p>
            <a:pPr marL="342900" indent="-342900">
              <a:buFontTx/>
              <a:buChar char="-"/>
            </a:pPr>
            <a:r>
              <a:rPr lang="nl-NL" sz="2000" dirty="0"/>
              <a:t>Drónok - DataVerse: </a:t>
            </a:r>
            <a:r>
              <a:rPr lang="nl-NL" sz="2000" dirty="0">
                <a:hlinkClick r:id="rId10"/>
              </a:rPr>
              <a:t>https://dataverse.no/dataset.xhtml?persistentId=doi:10.18710/L41IGQ</a:t>
            </a:r>
            <a:r>
              <a:rPr lang="hu-HU" sz="2000" dirty="0"/>
              <a:t> </a:t>
            </a:r>
          </a:p>
          <a:p>
            <a:pPr marL="342900" indent="-342900">
              <a:buFontTx/>
              <a:buChar char="-"/>
            </a:pPr>
            <a:r>
              <a:rPr lang="hu-HU" sz="2000" dirty="0"/>
              <a:t>Népsűrűség ellenőrzése: HDX - </a:t>
            </a:r>
            <a:r>
              <a:rPr lang="hu-HU" sz="2000" dirty="0">
                <a:hlinkClick r:id="rId11"/>
              </a:rPr>
              <a:t>https://data.humdata.org/dataset/worldpop-population-counts-2015-2030-hun</a:t>
            </a:r>
            <a:endParaRPr lang="hu-HU" sz="2000" dirty="0"/>
          </a:p>
          <a:p>
            <a:pPr marL="342900" indent="-342900">
              <a:buFontTx/>
              <a:buChar char="-"/>
            </a:pPr>
            <a:r>
              <a:rPr lang="pt-BR" sz="2000" dirty="0"/>
              <a:t>Geográfiai koordináták - Nominatim API: </a:t>
            </a:r>
            <a:r>
              <a:rPr lang="pt-BR" sz="2000" dirty="0">
                <a:hlinkClick r:id="rId12"/>
              </a:rPr>
              <a:t>https://nominatim.org/</a:t>
            </a:r>
            <a:r>
              <a:rPr lang="hu-HU" sz="2000" dirty="0"/>
              <a:t> </a:t>
            </a:r>
          </a:p>
          <a:p>
            <a:pPr marL="342900" indent="-342900">
              <a:buFontTx/>
              <a:buChar char="-"/>
            </a:pPr>
            <a:r>
              <a:rPr lang="hu-HU" sz="2000" dirty="0"/>
              <a:t>Éves esetek száma – EgészségKalauz.hu : </a:t>
            </a:r>
            <a:r>
              <a:rPr lang="hu-HU" sz="2000" dirty="0">
                <a:hlinkClick r:id="rId13"/>
              </a:rPr>
              <a:t>https://www.egeszsegkalauz.hu/extra-ajanlo/a-magyar-emberek-fele-sziv-es-errendszeri-betegseg-miatt-veszti-eletet-hogyan/cz5jnx4</a:t>
            </a:r>
            <a:r>
              <a:rPr lang="hu-HU" sz="2000" dirty="0"/>
              <a:t> </a:t>
            </a:r>
            <a:endParaRPr lang="nl-NL" sz="2000" dirty="0"/>
          </a:p>
        </p:txBody>
      </p:sp>
    </p:spTree>
    <p:extLst>
      <p:ext uri="{BB962C8B-B14F-4D97-AF65-F5344CB8AC3E}">
        <p14:creationId xmlns:p14="http://schemas.microsoft.com/office/powerpoint/2010/main" val="3278358569"/>
      </p:ext>
    </p:extLst>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1138</TotalTime>
  <Words>1151</Words>
  <Application>Microsoft Office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vt:i4>
      </vt:variant>
    </vt:vector>
  </HeadingPairs>
  <TitlesOfParts>
    <vt:vector size="6" baseType="lpstr">
      <vt:lpstr>Aptos</vt:lpstr>
      <vt:lpstr>Aptos Display</vt:lpstr>
      <vt:lpstr>Arial</vt:lpstr>
      <vt:lpstr>Office Theme</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Veres Zoltán</dc:creator>
  <cp:lastModifiedBy>Veres Zoltán</cp:lastModifiedBy>
  <cp:revision>6</cp:revision>
  <cp:lastPrinted>2026-10-04T16:33:58Z</cp:lastPrinted>
  <dcterms:created xsi:type="dcterms:W3CDTF">2026-10-03T21:57:19Z</dcterms:created>
  <dcterms:modified xsi:type="dcterms:W3CDTF">2026-10-04T16:55:41Z</dcterms:modified>
</cp:coreProperties>
</file>