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256" r:id="rId3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8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5667" autoAdjust="0"/>
  </p:normalViewPr>
  <p:slideViewPr>
    <p:cSldViewPr snapToGrid="0">
      <p:cViewPr>
        <p:scale>
          <a:sx n="40" d="100"/>
          <a:sy n="40" d="100"/>
        </p:scale>
        <p:origin x="30" y="-3426"/>
      </p:cViewPr>
      <p:guideLst>
        <p:guide orient="horz" pos="11338"/>
        <p:guide pos="79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2963A-3055-4A9F-B884-0B5EE0ABA787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AE02F-513E-4198-8DCC-DC60AC072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2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1pPr>
    <a:lvl2pPr marL="146875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2pPr>
    <a:lvl3pPr marL="293751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3pPr>
    <a:lvl4pPr marL="440626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4pPr>
    <a:lvl5pPr marL="587502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5pPr>
    <a:lvl6pPr marL="734377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6pPr>
    <a:lvl7pPr marL="881253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7pPr>
    <a:lvl8pPr marL="1028128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8pPr>
    <a:lvl9pPr marL="1175004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1763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4002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359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313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40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4721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92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458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7750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346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77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C1A9-BCF9-802F-86CC-76E2963F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600" y="5891213"/>
            <a:ext cx="18900775" cy="125333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4FD85-41A6-C152-4982-B61556F27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0" y="18908713"/>
            <a:ext cx="18900775" cy="86915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922E-859C-7E69-72D4-28FB46A0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29FE6-625A-D1C7-5648-E02868BD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4218-FF0B-2961-9D60-53A854A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893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AC51-626C-8FB9-ADDD-19EA5659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095E5-31A3-DD90-EA87-5C5F66A7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CE172-5324-DA66-C293-5AE6DC35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A146-AA8C-AE35-E1D6-2DA2EB0F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E04A-B0B8-C80D-3610-DB71F4D6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7661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B6F0-1F2B-5E50-FA11-0C37FABD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63" y="8975725"/>
            <a:ext cx="21734462" cy="149748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1A5B5-033C-B9F6-E89D-263D55768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263" y="24091900"/>
            <a:ext cx="21734462" cy="787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9B73-3CAD-870B-6634-217E3D35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6D2A5-75C9-CBFD-3F5B-AF5ED05F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1E168-F217-27A0-00D0-8E2F75ED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36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DE3A-9DE4-418C-1AB1-E4C3E225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0E9E-73FC-F195-F584-C43785365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1963" y="9583738"/>
            <a:ext cx="10791825" cy="22840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A26FF-F535-11B1-B921-76F6613F6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76188" y="9583738"/>
            <a:ext cx="10791825" cy="22840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24A1D-9577-ED84-9277-2060F05C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640D9-ECA2-27C0-B753-5B6C6544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AA9E9-BCDA-5147-D75E-0CFBADA0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440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336-95C2-3EBF-5C05-C4B4B11F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1916113"/>
            <a:ext cx="21736050" cy="695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BBAD0-D098-7A18-97F4-57B45858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138" y="8824913"/>
            <a:ext cx="10661650" cy="4324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6962C-C63F-20F7-D134-8A4D36254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138" y="13149263"/>
            <a:ext cx="10661650" cy="1934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AF3DF-8233-0A03-33F3-474D97843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150" y="8824913"/>
            <a:ext cx="10714038" cy="4324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B568C-BE70-5DB1-4684-1816C124D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150" y="13149263"/>
            <a:ext cx="10714038" cy="1934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B83F5-70AC-BBC7-D3DC-AEBFBBF3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39AF94-F12F-D38F-54C2-ED4C2770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88C69-D9B3-0799-6325-BB6F477A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52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495-5B7C-9EC8-79C0-EC1E4103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8D155-D4BE-9A80-DD33-5AE0B93E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F3DA4-6B96-888E-21FB-0D468023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B9E21-726C-07BE-1073-E651D85E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6882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6B38C-EB94-6752-904F-BC72171A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B5FA5-4F7F-2472-0B04-2A9167E5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DFD0-8787-5DD1-793D-5969244A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4332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C7C-9FFC-F8DD-9B15-B1B1A54E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2400300"/>
            <a:ext cx="8128000" cy="83994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0EFC-4B2F-3FC8-FC65-E3AC72C97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038" y="5183188"/>
            <a:ext cx="12757150" cy="255825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589C7-8807-2234-71C1-E2C0B5C31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138" y="10799763"/>
            <a:ext cx="8128000" cy="20008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8A871-C01E-6FB4-C69E-BE3ED0E8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A33FB-3CDF-D8DC-CF61-695F7AF4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D37F5-749C-9640-465F-5A635377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2569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C69B-A3F1-036A-4601-7CC947A1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2400300"/>
            <a:ext cx="8128000" cy="83994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D70BF-EC25-03E6-DC9D-8654F84DBC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0714038" y="5183188"/>
            <a:ext cx="12757150" cy="255825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D52AC-7710-F425-D8A4-A53A70F8B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138" y="10799763"/>
            <a:ext cx="8128000" cy="20008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E6BB-DD85-9306-D4E1-7FB6FEE7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6B97F-B07B-8EDA-4289-380EAC51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EFE75-5360-B610-1D1C-6FB2428A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7642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26E0-0E77-AE4F-9EA6-16317E21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0A383-78EA-9546-4A2C-95ABFD7A7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84CF-431F-0DC5-92D7-A9D4752E5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7072-4EF2-E475-DBE3-EE6E556D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C3A9F-9C5B-96A9-4EAC-256D32FD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5739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51BEA-DD5E-AAF0-963C-001B280BE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4000" y="1916113"/>
            <a:ext cx="5434013" cy="30508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29204-17C2-4F00-54E0-839B9B4DF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1963" y="1916113"/>
            <a:ext cx="16149637" cy="30508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2F95F-10D2-6EF9-3483-6976B633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B97CE-C7BB-8A81-E904-33F7AFFA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065B-C572-658E-BD49-53E27555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057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95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861FA-A219-D375-DF78-C747A355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963" y="1916113"/>
            <a:ext cx="21736050" cy="695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C0EB4-4289-C4B0-E3A1-FBBB6CD11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963" y="9583738"/>
            <a:ext cx="21736050" cy="22840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3BAB-CBD6-DBA2-2AA2-365998DBC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1963" y="33366075"/>
            <a:ext cx="5670550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77A0-FF89-F92A-0EBD-5322C227B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075" y="33366075"/>
            <a:ext cx="8505825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71F0-686F-F3D5-7511-3737E3361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63" y="33366075"/>
            <a:ext cx="5670550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707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Content Placeholder 56">
            <a:extLst>
              <a:ext uri="{FF2B5EF4-FFF2-40B4-BE49-F238E27FC236}">
                <a16:creationId xmlns:a16="http://schemas.microsoft.com/office/drawing/2014/main" id="{CF282539-AA82-B1A2-BF8F-2468D02C3D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7731" y="42033845"/>
            <a:ext cx="2582380" cy="15335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4F8137-F77C-9F2D-AA83-A51F88FDFF07}"/>
              </a:ext>
            </a:extLst>
          </p:cNvPr>
          <p:cNvSpPr txBox="1"/>
          <p:nvPr/>
        </p:nvSpPr>
        <p:spPr>
          <a:xfrm>
            <a:off x="1082843" y="747211"/>
            <a:ext cx="113596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Automata külső </a:t>
            </a:r>
            <a:r>
              <a:rPr lang="hu-HU" sz="6000" b="1" dirty="0" err="1"/>
              <a:t>defibrillátor</a:t>
            </a:r>
            <a:r>
              <a:rPr lang="hu-HU" sz="6000" b="1" dirty="0"/>
              <a:t> (AED) kiszállítása drónnal:</a:t>
            </a:r>
            <a:br>
              <a:rPr lang="hu-HU" sz="6000" dirty="0"/>
            </a:br>
            <a:r>
              <a:rPr lang="hu-HU" sz="6000" dirty="0"/>
              <a:t>Térinformatikai megoldások és operációkutatási optimalizálás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507D2-AD5E-3E91-338B-AFC8AB11FAB1}"/>
              </a:ext>
            </a:extLst>
          </p:cNvPr>
          <p:cNvSpPr txBox="1"/>
          <p:nvPr/>
        </p:nvSpPr>
        <p:spPr>
          <a:xfrm>
            <a:off x="12757488" y="747210"/>
            <a:ext cx="113596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Automated external defibrillator (AED) delivery by drone:</a:t>
            </a:r>
            <a:br>
              <a:rPr lang="hu-HU" sz="6000" b="1" dirty="0"/>
            </a:br>
            <a:r>
              <a:rPr lang="en-US" sz="6000" dirty="0"/>
              <a:t>Geospatial solutions and operations research optimization</a:t>
            </a:r>
            <a:endParaRPr lang="hu-HU" sz="6000" dirty="0"/>
          </a:p>
        </p:txBody>
      </p:sp>
      <p:pic>
        <p:nvPicPr>
          <p:cNvPr id="17" name="Content Placeholder 13">
            <a:extLst>
              <a:ext uri="{FF2B5EF4-FFF2-40B4-BE49-F238E27FC236}">
                <a16:creationId xmlns:a16="http://schemas.microsoft.com/office/drawing/2014/main" id="{B8251EFD-B2CE-97E6-18C4-568387BA4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896" y="6786864"/>
            <a:ext cx="4294181" cy="42941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EEC61B-4D65-8D2F-E602-0FA9508A49A9}"/>
              </a:ext>
            </a:extLst>
          </p:cNvPr>
          <p:cNvSpPr txBox="1"/>
          <p:nvPr/>
        </p:nvSpPr>
        <p:spPr>
          <a:xfrm>
            <a:off x="561372" y="33236456"/>
            <a:ext cx="11816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dirty="0" err="1"/>
              <a:t>asasasas</a:t>
            </a:r>
            <a:endParaRPr lang="hu-HU" sz="6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A7BF24-2472-D4E4-B0E2-4ADE841B5DE0}"/>
              </a:ext>
            </a:extLst>
          </p:cNvPr>
          <p:cNvSpPr txBox="1"/>
          <p:nvPr/>
        </p:nvSpPr>
        <p:spPr>
          <a:xfrm>
            <a:off x="1082843" y="5771202"/>
            <a:ext cx="7916778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/>
              <a:t>Absztrakt</a:t>
            </a:r>
          </a:p>
          <a:p>
            <a:pPr algn="just"/>
            <a:endParaRPr lang="hu-HU" sz="2400" dirty="0"/>
          </a:p>
          <a:p>
            <a:pPr algn="just"/>
            <a:r>
              <a:rPr lang="hu-HU" dirty="0"/>
              <a:t>A szívmegállás túlélési esélyének növelésére ígéretes megoldás az automata külső </a:t>
            </a:r>
            <a:r>
              <a:rPr lang="hu-HU" dirty="0" err="1"/>
              <a:t>defibrillátorok</a:t>
            </a:r>
            <a:r>
              <a:rPr lang="hu-HU" dirty="0"/>
              <a:t> (AED) drónokkal történő kiszállítása. Kutatásunk célja megtervezni egy Magyarországot lefedő, AED-ket szállító drónhálózatot. Ehhez készítettünk egy adatbázist, mely tartalmazza a postacímeket, a népesség számát és geográfiai koordinátáit. A megfelelő drón és ezáltal a hatósugár (és hasznos teher) kiválasztása három paraméter mentén lett súlyozva többszempontú döntéselemzéssel (MCDA): Végsebesség (0.5), hatótáv (0.2), súly (inverz 0.2) és hasznos teher (0.1). A demográfiai eloszlást </a:t>
            </a:r>
            <a:r>
              <a:rPr lang="hu-HU" dirty="0" err="1"/>
              <a:t>izoband</a:t>
            </a:r>
            <a:r>
              <a:rPr lang="hu-HU" dirty="0"/>
              <a:t> vonalak képében jelenítettük meg és </a:t>
            </a:r>
            <a:r>
              <a:rPr lang="hu-HU" dirty="0" err="1"/>
              <a:t>GeoTiff</a:t>
            </a:r>
            <a:r>
              <a:rPr lang="hu-HU" dirty="0"/>
              <a:t> fájl segítségével ellenőriztük az eredményünket szemrevételezéssel. A drónbázisok elhelyezését egy kapacitáskorlátos mohó algoritmus optimalizálta az éves hazai esetszámok (63 000 / év) térbeli eloszlása alapján. Interaktív webes szimulációnk igazolja: 30 km-es hatótávú drónok alkalmazásával kevesebb, mint 50 bázis is elegendő az országos AED igények legalább 95%-</a:t>
            </a:r>
            <a:r>
              <a:rPr lang="hu-HU" dirty="0" err="1"/>
              <a:t>ának</a:t>
            </a:r>
            <a:r>
              <a:rPr lang="hu-HU" dirty="0"/>
              <a:t> lefedésére.</a:t>
            </a:r>
            <a:endParaRPr lang="hu-HU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97E6A-30A4-CA74-8C40-9AB3936ACC69}"/>
              </a:ext>
            </a:extLst>
          </p:cNvPr>
          <p:cNvSpPr txBox="1"/>
          <p:nvPr/>
        </p:nvSpPr>
        <p:spPr>
          <a:xfrm>
            <a:off x="16200355" y="5771202"/>
            <a:ext cx="7916778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 err="1"/>
              <a:t>Abstract</a:t>
            </a:r>
            <a:endParaRPr lang="hu-HU" sz="4500" b="1" dirty="0"/>
          </a:p>
          <a:p>
            <a:pPr algn="just"/>
            <a:endParaRPr lang="hu-HU" sz="2400" dirty="0"/>
          </a:p>
          <a:p>
            <a:pPr algn="just"/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improve</a:t>
            </a:r>
            <a:r>
              <a:rPr lang="hu-HU" dirty="0"/>
              <a:t> </a:t>
            </a:r>
            <a:r>
              <a:rPr lang="hu-HU" dirty="0" err="1"/>
              <a:t>survival</a:t>
            </a:r>
            <a:r>
              <a:rPr lang="hu-HU" dirty="0"/>
              <a:t> </a:t>
            </a:r>
            <a:r>
              <a:rPr lang="hu-HU" dirty="0" err="1"/>
              <a:t>rates</a:t>
            </a:r>
            <a:r>
              <a:rPr lang="hu-HU" dirty="0"/>
              <a:t> </a:t>
            </a:r>
            <a:r>
              <a:rPr lang="hu-HU" dirty="0" err="1"/>
              <a:t>after</a:t>
            </a:r>
            <a:r>
              <a:rPr lang="hu-HU" dirty="0"/>
              <a:t> </a:t>
            </a:r>
            <a:r>
              <a:rPr lang="hu-HU" dirty="0" err="1"/>
              <a:t>cardiac</a:t>
            </a:r>
            <a:r>
              <a:rPr lang="hu-HU" dirty="0"/>
              <a:t> </a:t>
            </a:r>
            <a:r>
              <a:rPr lang="hu-HU" dirty="0" err="1"/>
              <a:t>arrest</a:t>
            </a:r>
            <a:r>
              <a:rPr lang="hu-HU" dirty="0"/>
              <a:t>, </a:t>
            </a:r>
            <a:r>
              <a:rPr lang="hu-HU" dirty="0" err="1"/>
              <a:t>delivering</a:t>
            </a:r>
            <a:r>
              <a:rPr lang="hu-HU" dirty="0"/>
              <a:t> </a:t>
            </a:r>
            <a:r>
              <a:rPr lang="hu-HU" dirty="0" err="1"/>
              <a:t>automated</a:t>
            </a:r>
            <a:r>
              <a:rPr lang="hu-HU" dirty="0"/>
              <a:t> </a:t>
            </a:r>
            <a:r>
              <a:rPr lang="hu-HU" dirty="0" err="1"/>
              <a:t>external</a:t>
            </a:r>
            <a:r>
              <a:rPr lang="hu-HU" dirty="0"/>
              <a:t> </a:t>
            </a:r>
            <a:r>
              <a:rPr lang="hu-HU" dirty="0" err="1"/>
              <a:t>defibrillators</a:t>
            </a:r>
            <a:r>
              <a:rPr lang="hu-HU" dirty="0"/>
              <a:t> (</a:t>
            </a:r>
            <a:r>
              <a:rPr lang="hu-HU" dirty="0" err="1"/>
              <a:t>AEDs</a:t>
            </a:r>
            <a:r>
              <a:rPr lang="hu-HU" dirty="0"/>
              <a:t>)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drones</a:t>
            </a:r>
            <a:r>
              <a:rPr lang="hu-HU" dirty="0"/>
              <a:t> </a:t>
            </a:r>
            <a:r>
              <a:rPr lang="hu-HU" dirty="0" err="1"/>
              <a:t>could</a:t>
            </a:r>
            <a:r>
              <a:rPr lang="hu-HU" dirty="0"/>
              <a:t> be an </a:t>
            </a:r>
            <a:r>
              <a:rPr lang="hu-HU" dirty="0" err="1"/>
              <a:t>effective</a:t>
            </a:r>
            <a:r>
              <a:rPr lang="hu-HU" dirty="0"/>
              <a:t> </a:t>
            </a:r>
            <a:r>
              <a:rPr lang="hu-HU" dirty="0" err="1"/>
              <a:t>solution</a:t>
            </a:r>
            <a:r>
              <a:rPr lang="hu-HU" dirty="0"/>
              <a:t>.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study</a:t>
            </a:r>
            <a:r>
              <a:rPr lang="hu-HU" dirty="0"/>
              <a:t> </a:t>
            </a:r>
            <a:r>
              <a:rPr lang="hu-HU" dirty="0" err="1"/>
              <a:t>focuses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designing a Hungary-</a:t>
            </a:r>
            <a:r>
              <a:rPr lang="hu-HU" dirty="0" err="1"/>
              <a:t>wide</a:t>
            </a:r>
            <a:r>
              <a:rPr lang="hu-HU" dirty="0"/>
              <a:t> AED </a:t>
            </a:r>
            <a:r>
              <a:rPr lang="hu-HU" dirty="0" err="1"/>
              <a:t>delivery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.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purpose</a:t>
            </a:r>
            <a:r>
              <a:rPr lang="hu-HU" dirty="0"/>
              <a:t>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designed</a:t>
            </a:r>
            <a:r>
              <a:rPr lang="hu-HU" dirty="0"/>
              <a:t> a </a:t>
            </a:r>
            <a:r>
              <a:rPr lang="hu-HU" dirty="0" err="1"/>
              <a:t>database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contains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postal</a:t>
            </a:r>
            <a:r>
              <a:rPr lang="hu-HU" dirty="0"/>
              <a:t> </a:t>
            </a:r>
            <a:r>
              <a:rPr lang="hu-HU" dirty="0" err="1"/>
              <a:t>codes</a:t>
            </a:r>
            <a:r>
              <a:rPr lang="hu-HU" dirty="0"/>
              <a:t>,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count</a:t>
            </a:r>
            <a:r>
              <a:rPr lang="hu-HU" dirty="0"/>
              <a:t>, and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geographical</a:t>
            </a:r>
            <a:r>
              <a:rPr lang="hu-HU" dirty="0"/>
              <a:t> </a:t>
            </a:r>
            <a:r>
              <a:rPr lang="hu-HU" dirty="0" err="1"/>
              <a:t>coordinates</a:t>
            </a:r>
            <a:r>
              <a:rPr lang="hu-HU" dirty="0"/>
              <a:t>. The </a:t>
            </a:r>
            <a:r>
              <a:rPr lang="hu-HU" dirty="0" err="1"/>
              <a:t>appropriate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and </a:t>
            </a:r>
            <a:r>
              <a:rPr lang="hu-HU" dirty="0" err="1"/>
              <a:t>thus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(and </a:t>
            </a:r>
            <a:r>
              <a:rPr lang="hu-HU" dirty="0" err="1"/>
              <a:t>payload</a:t>
            </a:r>
            <a:r>
              <a:rPr lang="hu-HU" dirty="0"/>
              <a:t>) </a:t>
            </a:r>
            <a:r>
              <a:rPr lang="hu-HU" dirty="0" err="1"/>
              <a:t>selection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weighting</a:t>
            </a:r>
            <a:r>
              <a:rPr lang="hu-HU" dirty="0"/>
              <a:t> </a:t>
            </a:r>
            <a:r>
              <a:rPr lang="hu-HU" dirty="0" err="1"/>
              <a:t>three</a:t>
            </a:r>
            <a:r>
              <a:rPr lang="hu-HU" dirty="0"/>
              <a:t> </a:t>
            </a:r>
            <a:r>
              <a:rPr lang="hu-HU" dirty="0" err="1"/>
              <a:t>parameters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multi-</a:t>
            </a:r>
            <a:r>
              <a:rPr lang="hu-HU" dirty="0" err="1"/>
              <a:t>criteria</a:t>
            </a:r>
            <a:r>
              <a:rPr lang="hu-HU" dirty="0"/>
              <a:t> decision </a:t>
            </a:r>
            <a:r>
              <a:rPr lang="hu-HU" dirty="0" err="1"/>
              <a:t>analysis</a:t>
            </a:r>
            <a:r>
              <a:rPr lang="hu-HU" dirty="0"/>
              <a:t> (MCDA): Top </a:t>
            </a:r>
            <a:r>
              <a:rPr lang="hu-HU" dirty="0" err="1"/>
              <a:t>speed</a:t>
            </a:r>
            <a:r>
              <a:rPr lang="hu-HU" dirty="0"/>
              <a:t> (0.5),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(0.2), </a:t>
            </a:r>
            <a:r>
              <a:rPr lang="hu-HU" dirty="0" err="1"/>
              <a:t>weight</a:t>
            </a:r>
            <a:r>
              <a:rPr lang="hu-HU" dirty="0"/>
              <a:t> (</a:t>
            </a:r>
            <a:r>
              <a:rPr lang="hu-HU" dirty="0" err="1"/>
              <a:t>inverted</a:t>
            </a:r>
            <a:r>
              <a:rPr lang="hu-HU" dirty="0"/>
              <a:t> 0.2), and </a:t>
            </a:r>
            <a:r>
              <a:rPr lang="hu-HU" dirty="0" err="1"/>
              <a:t>payload</a:t>
            </a:r>
            <a:r>
              <a:rPr lang="hu-HU" dirty="0"/>
              <a:t> (0.1). </a:t>
            </a:r>
            <a:r>
              <a:rPr lang="hu-HU" dirty="0" err="1"/>
              <a:t>Demographic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visualised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isoband</a:t>
            </a:r>
            <a:r>
              <a:rPr lang="hu-HU" dirty="0"/>
              <a:t> </a:t>
            </a:r>
            <a:r>
              <a:rPr lang="hu-HU" dirty="0" err="1"/>
              <a:t>lines</a:t>
            </a:r>
            <a:r>
              <a:rPr lang="hu-HU" dirty="0"/>
              <a:t> and </a:t>
            </a:r>
            <a:r>
              <a:rPr lang="hu-HU" dirty="0" err="1"/>
              <a:t>cross-checked</a:t>
            </a:r>
            <a:r>
              <a:rPr lang="hu-HU" dirty="0"/>
              <a:t> </a:t>
            </a:r>
            <a:r>
              <a:rPr lang="hu-HU" dirty="0" err="1"/>
              <a:t>visually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help</a:t>
            </a:r>
            <a:r>
              <a:rPr lang="hu-HU" dirty="0"/>
              <a:t> of a </a:t>
            </a:r>
            <a:r>
              <a:rPr lang="hu-HU" dirty="0" err="1"/>
              <a:t>GeoTiff</a:t>
            </a:r>
            <a:r>
              <a:rPr lang="hu-HU" dirty="0"/>
              <a:t> file. The </a:t>
            </a:r>
            <a:r>
              <a:rPr lang="hu-HU" dirty="0" err="1"/>
              <a:t>placement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optimised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a </a:t>
            </a:r>
            <a:r>
              <a:rPr lang="hu-HU" dirty="0" err="1"/>
              <a:t>capacity-constrained</a:t>
            </a:r>
            <a:r>
              <a:rPr lang="hu-HU" dirty="0"/>
              <a:t> 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yearly</a:t>
            </a:r>
            <a:r>
              <a:rPr lang="hu-HU" dirty="0"/>
              <a:t> </a:t>
            </a:r>
            <a:r>
              <a:rPr lang="hu-HU" dirty="0" err="1"/>
              <a:t>cases</a:t>
            </a:r>
            <a:r>
              <a:rPr lang="hu-HU" dirty="0"/>
              <a:t> (63 000 / </a:t>
            </a:r>
            <a:r>
              <a:rPr lang="hu-HU" dirty="0" err="1"/>
              <a:t>year</a:t>
            </a:r>
            <a:r>
              <a:rPr lang="hu-HU" dirty="0"/>
              <a:t>).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interactive</a:t>
            </a:r>
            <a:r>
              <a:rPr lang="hu-HU" dirty="0"/>
              <a:t> web-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simulation</a:t>
            </a:r>
            <a:r>
              <a:rPr lang="hu-HU" dirty="0"/>
              <a:t> </a:t>
            </a:r>
            <a:r>
              <a:rPr lang="hu-HU" dirty="0" err="1"/>
              <a:t>demonstrates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a 30 km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radius</a:t>
            </a:r>
            <a:r>
              <a:rPr lang="hu-HU" dirty="0"/>
              <a:t>, </a:t>
            </a:r>
            <a:r>
              <a:rPr lang="hu-HU" dirty="0" err="1"/>
              <a:t>fewer</a:t>
            </a:r>
            <a:r>
              <a:rPr lang="hu-HU" dirty="0"/>
              <a:t> </a:t>
            </a:r>
            <a:r>
              <a:rPr lang="hu-HU" dirty="0" err="1"/>
              <a:t>than</a:t>
            </a:r>
            <a:r>
              <a:rPr lang="hu-HU" dirty="0"/>
              <a:t> 50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sufficient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cover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least</a:t>
            </a:r>
            <a:r>
              <a:rPr lang="hu-HU" dirty="0"/>
              <a:t> 95%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country’s</a:t>
            </a:r>
            <a:r>
              <a:rPr lang="hu-HU" dirty="0"/>
              <a:t> </a:t>
            </a:r>
            <a:r>
              <a:rPr lang="hu-HU" dirty="0" err="1"/>
              <a:t>demand</a:t>
            </a:r>
            <a:r>
              <a:rPr lang="hu-HU" dirty="0"/>
              <a:t>.</a:t>
            </a:r>
            <a:endParaRPr lang="hu-HU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F0DE6D-3239-9E15-6A3C-79746192FEFB}"/>
              </a:ext>
            </a:extLst>
          </p:cNvPr>
          <p:cNvSpPr txBox="1"/>
          <p:nvPr/>
        </p:nvSpPr>
        <p:spPr>
          <a:xfrm>
            <a:off x="9727361" y="5771202"/>
            <a:ext cx="2715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b="1" dirty="0"/>
              <a:t>Interaktív szimuláció!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8AF901-AA53-8D73-B4A7-A211FCDB3EDA}"/>
              </a:ext>
            </a:extLst>
          </p:cNvPr>
          <p:cNvSpPr txBox="1"/>
          <p:nvPr/>
        </p:nvSpPr>
        <p:spPr>
          <a:xfrm>
            <a:off x="12757491" y="5771201"/>
            <a:ext cx="2715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b="1" dirty="0" err="1"/>
              <a:t>Interactive</a:t>
            </a:r>
            <a:r>
              <a:rPr lang="hu-HU" sz="3000" b="1" dirty="0"/>
              <a:t> </a:t>
            </a:r>
            <a:r>
              <a:rPr lang="hu-HU" sz="3000" b="1" dirty="0" err="1"/>
              <a:t>simulation</a:t>
            </a:r>
            <a:r>
              <a:rPr lang="hu-HU" sz="3000" b="1" dirty="0"/>
              <a:t>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290206-03C2-246A-B927-11538E8E1127}"/>
              </a:ext>
            </a:extLst>
          </p:cNvPr>
          <p:cNvSpPr txBox="1"/>
          <p:nvPr/>
        </p:nvSpPr>
        <p:spPr>
          <a:xfrm>
            <a:off x="1082842" y="4532862"/>
            <a:ext cx="11359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Szerzők:		Veres Zoltán, Dr. Takács István</a:t>
            </a:r>
            <a:br>
              <a:rPr lang="hu-HU" sz="3000" dirty="0"/>
            </a:br>
            <a:r>
              <a:rPr lang="hu-HU" sz="3000" dirty="0"/>
              <a:t>				Tokaj-Hegyalja Egyetem, Lorántffy Intézet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C92B33-ED10-C1D9-7EE4-564BAC62A720}"/>
              </a:ext>
            </a:extLst>
          </p:cNvPr>
          <p:cNvSpPr txBox="1"/>
          <p:nvPr/>
        </p:nvSpPr>
        <p:spPr>
          <a:xfrm>
            <a:off x="12757491" y="4528720"/>
            <a:ext cx="11359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err="1"/>
              <a:t>Authors</a:t>
            </a:r>
            <a:r>
              <a:rPr lang="hu-HU" sz="3000" dirty="0"/>
              <a:t>:	Zoltán Veres, Dr. István Takács</a:t>
            </a:r>
          </a:p>
          <a:p>
            <a:r>
              <a:rPr lang="hu-HU" sz="3000" dirty="0"/>
              <a:t>				University of Tokaj, Lorántffy Institute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B9738F9-97D4-C9BB-7823-B2B27B014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795" y="12595811"/>
            <a:ext cx="12260386" cy="76210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0FC8D4-8CF3-D3E5-3652-E77F3C5F5252}"/>
              </a:ext>
            </a:extLst>
          </p:cNvPr>
          <p:cNvSpPr txBox="1"/>
          <p:nvPr/>
        </p:nvSpPr>
        <p:spPr>
          <a:xfrm>
            <a:off x="1082843" y="11519020"/>
            <a:ext cx="5386952" cy="891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/>
              <a:t>Módszertan</a:t>
            </a:r>
          </a:p>
          <a:p>
            <a:pPr algn="just"/>
            <a:endParaRPr lang="hu-HU" sz="2400" dirty="0"/>
          </a:p>
          <a:p>
            <a:pPr algn="just"/>
            <a:r>
              <a:rPr lang="hu-HU" dirty="0"/>
              <a:t>A kutatás egy </a:t>
            </a:r>
            <a:r>
              <a:rPr lang="hu-HU" dirty="0" err="1"/>
              <a:t>adatvezérelt</a:t>
            </a:r>
            <a:r>
              <a:rPr lang="hu-HU" dirty="0"/>
              <a:t> keretrendszerre épül, amely a térinformatikát és az operációkutatást ötvözi négy fő lépésben.</a:t>
            </a:r>
            <a:br>
              <a:rPr lang="hu-HU" dirty="0"/>
            </a:br>
            <a:r>
              <a:rPr lang="hu-HU" b="1" dirty="0"/>
              <a:t>Térinformatikai (GIS) modellezés:</a:t>
            </a:r>
            <a:r>
              <a:rPr lang="hu-HU" dirty="0"/>
              <a:t> Magyarország eloszlását irányítószám-szintű demográfiai adatok alapján határoztuk meg, melyeket </a:t>
            </a:r>
            <a:r>
              <a:rPr lang="hu-HU" dirty="0" err="1"/>
              <a:t>izoband</a:t>
            </a:r>
            <a:r>
              <a:rPr lang="hu-HU" dirty="0"/>
              <a:t> sűrűségi zónák segítségével térképeztünk fel. A </a:t>
            </a:r>
            <a:r>
              <a:rPr lang="hu-HU" dirty="0" err="1"/>
              <a:t>modelt</a:t>
            </a:r>
            <a:r>
              <a:rPr lang="hu-HU" dirty="0"/>
              <a:t> egy 100 méteres felbontású raszteres (</a:t>
            </a:r>
            <a:r>
              <a:rPr lang="hu-HU" dirty="0" err="1"/>
              <a:t>GeoTiff</a:t>
            </a:r>
            <a:r>
              <a:rPr lang="hu-HU" dirty="0"/>
              <a:t>) népsűrűségi adatbázissal </a:t>
            </a:r>
            <a:r>
              <a:rPr lang="hu-HU" dirty="0" err="1"/>
              <a:t>validáltuk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/>
              <a:t>Többszempontú döntéselemzés (MCDA):</a:t>
            </a:r>
            <a:r>
              <a:rPr lang="hu-HU" dirty="0"/>
              <a:t> A feladathoz a legalkalmasabb drón kiválasztását egy súlyozott pontozórendszerrel vittük véghez. A </a:t>
            </a:r>
            <a:r>
              <a:rPr lang="hu-HU" dirty="0" err="1"/>
              <a:t>model</a:t>
            </a:r>
            <a:r>
              <a:rPr lang="hu-HU" dirty="0"/>
              <a:t> a végsebességet (50%), a hatótávot (20%), biztonságot és kezelést segítő maximális felszállótömeget (inverz 20%) és a hasznos terhet (10%) vette figyelembe.</a:t>
            </a:r>
            <a:br>
              <a:rPr lang="hu-HU" dirty="0"/>
            </a:br>
            <a:r>
              <a:rPr lang="hu-HU" b="1" dirty="0"/>
              <a:t>Hálózat-optimalizálás:</a:t>
            </a:r>
            <a:r>
              <a:rPr lang="hu-HU" dirty="0"/>
              <a:t> A bázisok elhelyezését, létesítmény-elhelyezési problémaként (</a:t>
            </a:r>
            <a:r>
              <a:rPr lang="hu-HU" dirty="0" err="1"/>
              <a:t>Facility</a:t>
            </a:r>
            <a:r>
              <a:rPr lang="hu-HU" dirty="0"/>
              <a:t> </a:t>
            </a:r>
            <a:r>
              <a:rPr lang="hu-HU" dirty="0" err="1"/>
              <a:t>Location</a:t>
            </a:r>
            <a:r>
              <a:rPr lang="hu-HU" dirty="0"/>
              <a:t> </a:t>
            </a:r>
            <a:r>
              <a:rPr lang="hu-HU" dirty="0" err="1"/>
              <a:t>Problem</a:t>
            </a:r>
            <a:r>
              <a:rPr lang="hu-HU" dirty="0"/>
              <a:t>) közelítettük meg. Kapacitáskorlátos mohó algoritmust (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) alkalmaztunk, melyet az évi becsült 63 000 hazai eset népességre vetített eloszlása alapján minimalizálta a szükséges bázisok számát.</a:t>
            </a:r>
            <a:br>
              <a:rPr lang="hu-HU" dirty="0"/>
            </a:br>
            <a:r>
              <a:rPr lang="hu-HU" b="1" dirty="0"/>
              <a:t>Interaktív szimuláció:</a:t>
            </a:r>
            <a:r>
              <a:rPr lang="hu-HU" dirty="0"/>
              <a:t> Web alapú térképes döntéstámogató rendszert (</a:t>
            </a:r>
            <a:r>
              <a:rPr lang="hu-HU" dirty="0" err="1"/>
              <a:t>dashboard</a:t>
            </a:r>
            <a:r>
              <a:rPr lang="hu-HU" dirty="0"/>
              <a:t>) fejlesztettünk, amely valós időben számolja újra a hálózat lefedettségét a bemeneti paraméterek (hatótávolság, drón és bázis kapacitás) alapján.</a:t>
            </a:r>
            <a:endParaRPr lang="hu-HU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F68857-5697-FED3-E82B-C6072AC6BAEA}"/>
              </a:ext>
            </a:extLst>
          </p:cNvPr>
          <p:cNvSpPr txBox="1"/>
          <p:nvPr/>
        </p:nvSpPr>
        <p:spPr>
          <a:xfrm>
            <a:off x="18730180" y="11537030"/>
            <a:ext cx="5386952" cy="863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 err="1"/>
              <a:t>Methodology</a:t>
            </a:r>
            <a:endParaRPr lang="hu-HU" sz="4500" b="1" dirty="0"/>
          </a:p>
          <a:p>
            <a:endParaRPr lang="hu-HU" sz="2400" dirty="0"/>
          </a:p>
          <a:p>
            <a:pPr algn="just"/>
            <a:r>
              <a:rPr lang="hu-HU" dirty="0"/>
              <a:t>The </a:t>
            </a:r>
            <a:r>
              <a:rPr lang="hu-HU" dirty="0" err="1"/>
              <a:t>research</a:t>
            </a:r>
            <a:r>
              <a:rPr lang="hu-HU" dirty="0"/>
              <a:t> is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 </a:t>
            </a:r>
            <a:r>
              <a:rPr lang="hu-HU" dirty="0" err="1"/>
              <a:t>data-driven</a:t>
            </a:r>
            <a:r>
              <a:rPr lang="hu-HU" dirty="0"/>
              <a:t> </a:t>
            </a:r>
            <a:r>
              <a:rPr lang="hu-HU" dirty="0" err="1"/>
              <a:t>framework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combines</a:t>
            </a:r>
            <a:r>
              <a:rPr lang="hu-HU" dirty="0"/>
              <a:t> </a:t>
            </a:r>
            <a:r>
              <a:rPr lang="hu-HU" dirty="0" err="1"/>
              <a:t>geographical</a:t>
            </a:r>
            <a:r>
              <a:rPr lang="hu-HU" dirty="0"/>
              <a:t>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systems</a:t>
            </a:r>
            <a:r>
              <a:rPr lang="hu-HU" dirty="0"/>
              <a:t> (GIS) in </a:t>
            </a:r>
            <a:r>
              <a:rPr lang="hu-HU" dirty="0" err="1"/>
              <a:t>four</a:t>
            </a:r>
            <a:r>
              <a:rPr lang="hu-HU" dirty="0"/>
              <a:t> </a:t>
            </a:r>
            <a:r>
              <a:rPr lang="hu-HU" dirty="0" err="1"/>
              <a:t>steps</a:t>
            </a:r>
            <a:r>
              <a:rPr lang="hu-HU" dirty="0"/>
              <a:t>:</a:t>
            </a:r>
            <a:br>
              <a:rPr lang="hu-HU" dirty="0"/>
            </a:br>
            <a:r>
              <a:rPr lang="hu-HU" b="1" dirty="0"/>
              <a:t>GIS </a:t>
            </a:r>
            <a:r>
              <a:rPr lang="hu-HU" b="1" dirty="0" err="1"/>
              <a:t>modeling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determined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</a:t>
            </a:r>
            <a:r>
              <a:rPr lang="hu-HU" dirty="0" err="1"/>
              <a:t>Hungary's</a:t>
            </a:r>
            <a:r>
              <a:rPr lang="hu-HU" dirty="0"/>
              <a:t>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postal-code</a:t>
            </a:r>
            <a:r>
              <a:rPr lang="hu-HU" dirty="0"/>
              <a:t> </a:t>
            </a:r>
            <a:r>
              <a:rPr lang="hu-HU" dirty="0" err="1"/>
              <a:t>level</a:t>
            </a:r>
            <a:r>
              <a:rPr lang="hu-HU" dirty="0"/>
              <a:t> </a:t>
            </a:r>
            <a:r>
              <a:rPr lang="hu-HU" dirty="0" err="1"/>
              <a:t>demographic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were</a:t>
            </a:r>
            <a:r>
              <a:rPr lang="hu-HU" dirty="0"/>
              <a:t> </a:t>
            </a:r>
            <a:r>
              <a:rPr lang="hu-HU" dirty="0" err="1"/>
              <a:t>visualised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isobands</a:t>
            </a:r>
            <a:r>
              <a:rPr lang="hu-HU" dirty="0"/>
              <a:t>. The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visually</a:t>
            </a:r>
            <a:r>
              <a:rPr lang="hu-HU" dirty="0"/>
              <a:t> </a:t>
            </a:r>
            <a:r>
              <a:rPr lang="hu-HU" dirty="0" err="1"/>
              <a:t>cross-referenced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a 100 </a:t>
            </a:r>
            <a:r>
              <a:rPr lang="hu-HU" dirty="0" err="1"/>
              <a:t>meter</a:t>
            </a:r>
            <a:r>
              <a:rPr lang="hu-HU" dirty="0"/>
              <a:t> </a:t>
            </a:r>
            <a:r>
              <a:rPr lang="hu-HU" dirty="0" err="1"/>
              <a:t>resolution</a:t>
            </a:r>
            <a:r>
              <a:rPr lang="hu-HU" dirty="0"/>
              <a:t> </a:t>
            </a:r>
            <a:r>
              <a:rPr lang="hu-HU" dirty="0" err="1"/>
              <a:t>raster</a:t>
            </a:r>
            <a:r>
              <a:rPr lang="hu-HU" dirty="0"/>
              <a:t> (</a:t>
            </a:r>
            <a:r>
              <a:rPr lang="hu-HU" dirty="0" err="1"/>
              <a:t>GeoTiff</a:t>
            </a:r>
            <a:r>
              <a:rPr lang="hu-HU" dirty="0"/>
              <a:t>)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density</a:t>
            </a:r>
            <a:r>
              <a:rPr lang="hu-HU" dirty="0"/>
              <a:t> </a:t>
            </a:r>
            <a:r>
              <a:rPr lang="hu-HU" dirty="0" err="1"/>
              <a:t>dataset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/>
              <a:t>Multi-</a:t>
            </a:r>
            <a:r>
              <a:rPr lang="hu-HU" b="1" dirty="0" err="1"/>
              <a:t>criteria</a:t>
            </a:r>
            <a:r>
              <a:rPr lang="hu-HU" b="1" dirty="0"/>
              <a:t> decision </a:t>
            </a:r>
            <a:r>
              <a:rPr lang="hu-HU" b="1" dirty="0" err="1"/>
              <a:t>analysis</a:t>
            </a:r>
            <a:r>
              <a:rPr lang="hu-HU" b="1" dirty="0"/>
              <a:t> (MCDA):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selected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most </a:t>
            </a:r>
            <a:r>
              <a:rPr lang="hu-HU" dirty="0" err="1"/>
              <a:t>suitable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task</a:t>
            </a:r>
            <a:r>
              <a:rPr lang="hu-HU" dirty="0"/>
              <a:t> </a:t>
            </a:r>
            <a:r>
              <a:rPr lang="hu-HU" dirty="0" err="1"/>
              <a:t>using</a:t>
            </a:r>
            <a:r>
              <a:rPr lang="hu-HU" dirty="0"/>
              <a:t> a </a:t>
            </a:r>
            <a:r>
              <a:rPr lang="hu-HU" dirty="0" err="1"/>
              <a:t>weighted</a:t>
            </a:r>
            <a:r>
              <a:rPr lang="hu-HU" dirty="0"/>
              <a:t> </a:t>
            </a:r>
            <a:r>
              <a:rPr lang="hu-HU" dirty="0" err="1"/>
              <a:t>scoring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. The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considered</a:t>
            </a:r>
            <a:r>
              <a:rPr lang="hu-HU" dirty="0"/>
              <a:t> top </a:t>
            </a:r>
            <a:r>
              <a:rPr lang="hu-HU" dirty="0" err="1"/>
              <a:t>speed</a:t>
            </a:r>
            <a:r>
              <a:rPr lang="hu-HU" dirty="0"/>
              <a:t> (50%),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(20%), maximum </a:t>
            </a:r>
            <a:r>
              <a:rPr lang="hu-HU" dirty="0" err="1"/>
              <a:t>take-off</a:t>
            </a:r>
            <a:r>
              <a:rPr lang="hu-HU" dirty="0"/>
              <a:t> </a:t>
            </a:r>
            <a:r>
              <a:rPr lang="hu-HU" dirty="0" err="1"/>
              <a:t>weight</a:t>
            </a:r>
            <a:r>
              <a:rPr lang="hu-HU" dirty="0"/>
              <a:t> – </a:t>
            </a:r>
            <a:r>
              <a:rPr lang="hu-HU" dirty="0" err="1"/>
              <a:t>safety</a:t>
            </a:r>
            <a:r>
              <a:rPr lang="hu-HU" dirty="0"/>
              <a:t> and </a:t>
            </a:r>
            <a:r>
              <a:rPr lang="hu-HU" dirty="0" err="1"/>
              <a:t>handling</a:t>
            </a:r>
            <a:r>
              <a:rPr lang="hu-HU" dirty="0"/>
              <a:t> – (</a:t>
            </a:r>
            <a:r>
              <a:rPr lang="hu-HU" dirty="0" err="1"/>
              <a:t>inverted</a:t>
            </a:r>
            <a:r>
              <a:rPr lang="hu-HU" dirty="0"/>
              <a:t> 20%), and </a:t>
            </a:r>
            <a:r>
              <a:rPr lang="hu-HU" dirty="0" err="1"/>
              <a:t>payload</a:t>
            </a:r>
            <a:r>
              <a:rPr lang="hu-HU" dirty="0"/>
              <a:t> </a:t>
            </a:r>
            <a:r>
              <a:rPr lang="hu-HU" dirty="0" err="1"/>
              <a:t>capacity</a:t>
            </a:r>
            <a:r>
              <a:rPr lang="hu-HU" dirty="0"/>
              <a:t> (10%).</a:t>
            </a:r>
            <a:br>
              <a:rPr lang="hu-HU" dirty="0"/>
            </a:br>
            <a:r>
              <a:rPr lang="hu-HU" b="1" dirty="0"/>
              <a:t>Network </a:t>
            </a:r>
            <a:r>
              <a:rPr lang="hu-HU" b="1" dirty="0" err="1"/>
              <a:t>optimisation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approached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placement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a </a:t>
            </a:r>
            <a:r>
              <a:rPr lang="hu-HU" dirty="0" err="1"/>
              <a:t>facility</a:t>
            </a:r>
            <a:r>
              <a:rPr lang="hu-HU" dirty="0"/>
              <a:t> </a:t>
            </a:r>
            <a:r>
              <a:rPr lang="hu-HU" dirty="0" err="1"/>
              <a:t>location</a:t>
            </a:r>
            <a:r>
              <a:rPr lang="hu-HU" dirty="0"/>
              <a:t> </a:t>
            </a:r>
            <a:r>
              <a:rPr lang="hu-HU" dirty="0" err="1"/>
              <a:t>problem</a:t>
            </a:r>
            <a:r>
              <a:rPr lang="hu-HU" dirty="0"/>
              <a:t>.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utilising</a:t>
            </a:r>
            <a:r>
              <a:rPr lang="hu-HU" dirty="0"/>
              <a:t> a </a:t>
            </a:r>
            <a:r>
              <a:rPr lang="hu-HU" dirty="0" err="1"/>
              <a:t>capacity-restrained</a:t>
            </a:r>
            <a:r>
              <a:rPr lang="hu-HU" dirty="0"/>
              <a:t> 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minimise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number</a:t>
            </a:r>
            <a:r>
              <a:rPr lang="hu-HU" dirty="0"/>
              <a:t> of </a:t>
            </a:r>
            <a:r>
              <a:rPr lang="hu-HU" dirty="0" err="1"/>
              <a:t>required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,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population-weighted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an </a:t>
            </a:r>
            <a:r>
              <a:rPr lang="hu-HU" dirty="0" err="1"/>
              <a:t>estimated</a:t>
            </a:r>
            <a:r>
              <a:rPr lang="hu-HU" dirty="0"/>
              <a:t> 63 000 </a:t>
            </a:r>
            <a:r>
              <a:rPr lang="hu-HU" dirty="0" err="1"/>
              <a:t>annual</a:t>
            </a:r>
            <a:r>
              <a:rPr lang="hu-HU" dirty="0"/>
              <a:t> </a:t>
            </a:r>
            <a:r>
              <a:rPr lang="hu-HU" dirty="0" err="1"/>
              <a:t>domestic</a:t>
            </a:r>
            <a:r>
              <a:rPr lang="hu-HU" dirty="0"/>
              <a:t> </a:t>
            </a:r>
            <a:r>
              <a:rPr lang="hu-HU" dirty="0" err="1"/>
              <a:t>cases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 err="1"/>
              <a:t>Interactive</a:t>
            </a:r>
            <a:r>
              <a:rPr lang="hu-HU" b="1" dirty="0"/>
              <a:t> </a:t>
            </a:r>
            <a:r>
              <a:rPr lang="hu-HU" b="1" dirty="0" err="1"/>
              <a:t>simulation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developed</a:t>
            </a:r>
            <a:r>
              <a:rPr lang="hu-HU" dirty="0"/>
              <a:t> a web-</a:t>
            </a:r>
            <a:r>
              <a:rPr lang="hu-HU" dirty="0" err="1"/>
              <a:t>based</a:t>
            </a:r>
            <a:r>
              <a:rPr lang="hu-HU" dirty="0"/>
              <a:t> map-</a:t>
            </a:r>
            <a:r>
              <a:rPr lang="hu-HU" dirty="0" err="1"/>
              <a:t>driven</a:t>
            </a:r>
            <a:r>
              <a:rPr lang="hu-HU" dirty="0"/>
              <a:t> decision </a:t>
            </a:r>
            <a:r>
              <a:rPr lang="hu-HU" dirty="0" err="1"/>
              <a:t>support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 (</a:t>
            </a:r>
            <a:r>
              <a:rPr lang="hu-HU" dirty="0" err="1"/>
              <a:t>dashboard</a:t>
            </a:r>
            <a:r>
              <a:rPr lang="hu-HU" dirty="0"/>
              <a:t>)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recalculates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coverage</a:t>
            </a:r>
            <a:r>
              <a:rPr lang="hu-HU" dirty="0"/>
              <a:t> in </a:t>
            </a:r>
            <a:r>
              <a:rPr lang="hu-HU" dirty="0" err="1"/>
              <a:t>real-time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input </a:t>
            </a:r>
            <a:r>
              <a:rPr lang="hu-HU" dirty="0" err="1"/>
              <a:t>parameters</a:t>
            </a:r>
            <a:r>
              <a:rPr lang="hu-HU" dirty="0"/>
              <a:t> (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, </a:t>
            </a:r>
            <a:r>
              <a:rPr lang="hu-HU" dirty="0" err="1"/>
              <a:t>drone</a:t>
            </a:r>
            <a:r>
              <a:rPr lang="hu-HU" dirty="0"/>
              <a:t> and </a:t>
            </a:r>
            <a:r>
              <a:rPr lang="hu-HU" dirty="0" err="1"/>
              <a:t>base</a:t>
            </a:r>
            <a:r>
              <a:rPr lang="hu-HU" dirty="0"/>
              <a:t> </a:t>
            </a:r>
            <a:r>
              <a:rPr lang="hu-HU" dirty="0" err="1"/>
              <a:t>capacity</a:t>
            </a:r>
            <a:r>
              <a:rPr lang="hu-HU" dirty="0"/>
              <a:t>).</a:t>
            </a:r>
            <a:endParaRPr lang="hu-HU" sz="24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D35F4FE-4C26-A39E-AD24-C150FD1C2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2650" y="20413169"/>
            <a:ext cx="7712241" cy="458886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0F58D32-F277-BD51-E6B6-DD0CD1957C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4891" y="20437648"/>
            <a:ext cx="7712242" cy="453991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EDEEB76-A5B3-6C7A-25FC-B431A9E76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3" y="20429151"/>
            <a:ext cx="7609807" cy="451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5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1039</TotalTime>
  <Words>799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Veres Zoltán</dc:creator>
  <cp:lastModifiedBy>Veres Zoltán</cp:lastModifiedBy>
  <cp:revision>4</cp:revision>
  <cp:lastPrinted>2026-10-04T15:02:07Z</cp:lastPrinted>
  <dcterms:created xsi:type="dcterms:W3CDTF">2026-10-03T21:57:19Z</dcterms:created>
  <dcterms:modified xsi:type="dcterms:W3CDTF">2026-10-04T15:17:02Z</dcterms:modified>
</cp:coreProperties>
</file>